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notesMasterIdLst>
    <p:notesMasterId r:id="rId13"/>
  </p:notesMasterIdLst>
  <p:sldIdLst>
    <p:sldId id="268" r:id="rId2"/>
    <p:sldId id="281" r:id="rId3"/>
    <p:sldId id="282" r:id="rId4"/>
    <p:sldId id="272" r:id="rId5"/>
    <p:sldId id="259" r:id="rId6"/>
    <p:sldId id="283" r:id="rId7"/>
    <p:sldId id="261" r:id="rId8"/>
    <p:sldId id="264" r:id="rId9"/>
    <p:sldId id="265" r:id="rId10"/>
    <p:sldId id="267" r:id="rId11"/>
    <p:sldId id="270" r:id="rId12"/>
  </p:sldIdLst>
  <p:sldSz cx="12192000" cy="6858000"/>
  <p:notesSz cx="7102475" cy="9037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00" d="100"/>
          <a:sy n="100" d="100"/>
        </p:scale>
        <p:origin x="9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8163" cy="4524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022725" y="0"/>
            <a:ext cx="3078163" cy="452438"/>
          </a:xfrm>
          <a:prstGeom prst="rect">
            <a:avLst/>
          </a:prstGeom>
        </p:spPr>
        <p:txBody>
          <a:bodyPr vert="horz" lIns="91440" tIns="45720" rIns="91440" bIns="45720" rtlCol="0"/>
          <a:lstStyle>
            <a:lvl1pPr algn="r">
              <a:defRPr sz="1200"/>
            </a:lvl1pPr>
          </a:lstStyle>
          <a:p>
            <a:fld id="{72E1B120-E1B5-4476-BA92-D20A2A21079B}" type="datetimeFigureOut">
              <a:rPr lang="en-US" smtClean="0"/>
              <a:t>12/27/2025</a:t>
            </a:fld>
            <a:endParaRPr lang="en-US"/>
          </a:p>
        </p:txBody>
      </p:sp>
      <p:sp>
        <p:nvSpPr>
          <p:cNvPr id="4" name="Slide Image Placeholder 3"/>
          <p:cNvSpPr>
            <a:spLocks noGrp="1" noRot="1" noChangeAspect="1"/>
          </p:cNvSpPr>
          <p:nvPr>
            <p:ph type="sldImg" idx="2"/>
          </p:nvPr>
        </p:nvSpPr>
        <p:spPr>
          <a:xfrm>
            <a:off x="839788" y="1130300"/>
            <a:ext cx="5422900" cy="30495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9613" y="4349750"/>
            <a:ext cx="5683250" cy="35575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585200"/>
            <a:ext cx="3078163" cy="4524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022725" y="8585200"/>
            <a:ext cx="3078163" cy="452438"/>
          </a:xfrm>
          <a:prstGeom prst="rect">
            <a:avLst/>
          </a:prstGeom>
        </p:spPr>
        <p:txBody>
          <a:bodyPr vert="horz" lIns="91440" tIns="45720" rIns="91440" bIns="45720" rtlCol="0" anchor="b"/>
          <a:lstStyle>
            <a:lvl1pPr algn="r">
              <a:defRPr sz="1200"/>
            </a:lvl1pPr>
          </a:lstStyle>
          <a:p>
            <a:fld id="{1DAAF7F5-5705-41B7-8C29-A9CFA32D44BB}" type="slidenum">
              <a:rPr lang="en-US" smtClean="0"/>
              <a:t>‹#›</a:t>
            </a:fld>
            <a:endParaRPr lang="en-US"/>
          </a:p>
        </p:txBody>
      </p:sp>
    </p:spTree>
    <p:extLst>
      <p:ext uri="{BB962C8B-B14F-4D97-AF65-F5344CB8AC3E}">
        <p14:creationId xmlns:p14="http://schemas.microsoft.com/office/powerpoint/2010/main" val="19255994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6965515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16345620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2640156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41225543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708703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966208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sp>
        <p:nvSpPr>
          <p:cNvPr id="4" name="Slide Number Placeholder 3"/>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1956788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4001578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2856189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872779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115A9337-9632-4024-8693-4508CB48E3B1}" type="slidenum">
              <a:rPr lang="en-US" smtClean="0"/>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759904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8883985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5339208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2964242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2212776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2969204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6A9BBC5F-5CDA-4125-9BC9-B7DDB6C51A18}" type="datetimeFigureOut">
              <a:rPr lang="en-US" smtClean="0"/>
              <a:t>12/27/2025</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115A9337-9632-4024-8693-4508CB48E3B1}" type="slidenum">
              <a:rPr lang="en-US" smtClean="0"/>
              <a:t>‹#›</a:t>
            </a:fld>
            <a:endParaRPr lang="en-US" dirty="0"/>
          </a:p>
        </p:txBody>
      </p:sp>
    </p:spTree>
    <p:extLst>
      <p:ext uri="{BB962C8B-B14F-4D97-AF65-F5344CB8AC3E}">
        <p14:creationId xmlns:p14="http://schemas.microsoft.com/office/powerpoint/2010/main" val="1526578369"/>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8.png"/><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pic>
        <p:nvPicPr>
          <p:cNvPr id="3" name="Picture 2" descr="A screenshot of a video game&#10;&#10;AI-generated content may be incorrect.">
            <a:extLst>
              <a:ext uri="{FF2B5EF4-FFF2-40B4-BE49-F238E27FC236}">
                <a16:creationId xmlns:a16="http://schemas.microsoft.com/office/drawing/2014/main" id="{7C3E4C8C-EA85-75B3-8593-93A68426E317}"/>
              </a:ext>
            </a:extLst>
          </p:cNvPr>
          <p:cNvPicPr>
            <a:picLocks noChangeAspect="1"/>
          </p:cNvPicPr>
          <p:nvPr/>
        </p:nvPicPr>
        <p:blipFill>
          <a:blip r:embed="rId2"/>
          <a:srcRect l="7542" r="4458" b="-1"/>
          <a:stretch>
            <a:fillRect/>
          </a:stretch>
        </p:blipFill>
        <p:spPr>
          <a:xfrm>
            <a:off x="880353" y="0"/>
            <a:ext cx="7816175" cy="5201376"/>
          </a:xfrm>
          <a:prstGeom prst="rect">
            <a:avLst/>
          </a:prstGeom>
        </p:spPr>
      </p:pic>
      <p:pic>
        <p:nvPicPr>
          <p:cNvPr id="6" name="Picture 5">
            <a:extLst>
              <a:ext uri="{FF2B5EF4-FFF2-40B4-BE49-F238E27FC236}">
                <a16:creationId xmlns:a16="http://schemas.microsoft.com/office/drawing/2014/main" id="{B704BA08-DD47-5030-6F90-38A0E400F53A}"/>
              </a:ext>
            </a:extLst>
          </p:cNvPr>
          <p:cNvPicPr>
            <a:picLocks noChangeAspect="1"/>
          </p:cNvPicPr>
          <p:nvPr/>
        </p:nvPicPr>
        <p:blipFill>
          <a:blip r:embed="rId3"/>
          <a:stretch>
            <a:fillRect/>
          </a:stretch>
        </p:blipFill>
        <p:spPr>
          <a:xfrm>
            <a:off x="8295731" y="0"/>
            <a:ext cx="3896269" cy="5201376"/>
          </a:xfrm>
          <a:prstGeom prst="rect">
            <a:avLst/>
          </a:prstGeom>
        </p:spPr>
      </p:pic>
      <p:sp>
        <p:nvSpPr>
          <p:cNvPr id="4" name="TextBox 3">
            <a:extLst>
              <a:ext uri="{FF2B5EF4-FFF2-40B4-BE49-F238E27FC236}">
                <a16:creationId xmlns:a16="http://schemas.microsoft.com/office/drawing/2014/main" id="{BDC2D7EF-D4F4-916E-2250-4B9B59C8285F}"/>
              </a:ext>
            </a:extLst>
          </p:cNvPr>
          <p:cNvSpPr txBox="1"/>
          <p:nvPr/>
        </p:nvSpPr>
        <p:spPr>
          <a:xfrm>
            <a:off x="3048000" y="3246792"/>
            <a:ext cx="6096000" cy="369332"/>
          </a:xfrm>
          <a:prstGeom prst="rect">
            <a:avLst/>
          </a:prstGeom>
          <a:noFill/>
        </p:spPr>
        <p:txBody>
          <a:bodyPr wrap="square">
            <a:spAutoFit/>
          </a:bodyPr>
          <a:lstStyle/>
          <a:p>
            <a:r>
              <a:rPr lang="en-US" dirty="0"/>
              <a:t>Our Mission Robot</a:t>
            </a:r>
          </a:p>
        </p:txBody>
      </p:sp>
      <p:sp>
        <p:nvSpPr>
          <p:cNvPr id="7" name="TextBox 6">
            <a:extLst>
              <a:ext uri="{FF2B5EF4-FFF2-40B4-BE49-F238E27FC236}">
                <a16:creationId xmlns:a16="http://schemas.microsoft.com/office/drawing/2014/main" id="{BC12AB33-DA41-240B-6835-A67ED2204F73}"/>
              </a:ext>
            </a:extLst>
          </p:cNvPr>
          <p:cNvSpPr txBox="1"/>
          <p:nvPr/>
        </p:nvSpPr>
        <p:spPr>
          <a:xfrm>
            <a:off x="3048000" y="3246792"/>
            <a:ext cx="6096000" cy="369332"/>
          </a:xfrm>
          <a:prstGeom prst="rect">
            <a:avLst/>
          </a:prstGeom>
          <a:noFill/>
        </p:spPr>
        <p:txBody>
          <a:bodyPr wrap="square">
            <a:spAutoFit/>
          </a:bodyPr>
          <a:lstStyle/>
          <a:p>
            <a:r>
              <a:rPr lang="en-US" dirty="0"/>
              <a:t>Our Mission Robot</a:t>
            </a:r>
          </a:p>
        </p:txBody>
      </p:sp>
      <p:pic>
        <p:nvPicPr>
          <p:cNvPr id="25" name="Picture 24" descr="Fist Bump Bee">
            <a:extLst>
              <a:ext uri="{FF2B5EF4-FFF2-40B4-BE49-F238E27FC236}">
                <a16:creationId xmlns:a16="http://schemas.microsoft.com/office/drawing/2014/main" id="{465A34FC-3CFD-975E-09C7-DA54A0A978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07515" y="4905518"/>
            <a:ext cx="2176969" cy="2176969"/>
          </a:xfrm>
          <a:prstGeom prst="rect">
            <a:avLst/>
          </a:prstGeom>
        </p:spPr>
      </p:pic>
      <p:pic>
        <p:nvPicPr>
          <p:cNvPr id="31" name="Picture 30" descr="Thumbs Up Teodor the Cat">
            <a:extLst>
              <a:ext uri="{FF2B5EF4-FFF2-40B4-BE49-F238E27FC236}">
                <a16:creationId xmlns:a16="http://schemas.microsoft.com/office/drawing/2014/main" id="{3B35BB64-FEC9-8F71-1A19-8A994AD00A8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077450" y="5079209"/>
            <a:ext cx="2081314" cy="1731166"/>
          </a:xfrm>
          <a:prstGeom prst="rect">
            <a:avLst/>
          </a:prstGeom>
        </p:spPr>
      </p:pic>
      <p:pic>
        <p:nvPicPr>
          <p:cNvPr id="33" name="Picture 32" descr="Laugh Out Loud Teodor the Cat">
            <a:extLst>
              <a:ext uri="{FF2B5EF4-FFF2-40B4-BE49-F238E27FC236}">
                <a16:creationId xmlns:a16="http://schemas.microsoft.com/office/drawing/2014/main" id="{45DD77DA-4F96-B6CD-BC3F-212E21B1C16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81152" y="5157858"/>
            <a:ext cx="1672287" cy="1672287"/>
          </a:xfrm>
          <a:prstGeom prst="rect">
            <a:avLst/>
          </a:prstGeom>
        </p:spPr>
      </p:pic>
    </p:spTree>
    <p:extLst>
      <p:ext uri="{BB962C8B-B14F-4D97-AF65-F5344CB8AC3E}">
        <p14:creationId xmlns:p14="http://schemas.microsoft.com/office/powerpoint/2010/main" val="4158124494"/>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3C290EEB-E47F-2C8F-B48D-47A89B95CF5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053327A-01AB-EF2D-C428-F612BEA5071E}"/>
              </a:ext>
            </a:extLst>
          </p:cNvPr>
          <p:cNvSpPr txBox="1"/>
          <p:nvPr/>
        </p:nvSpPr>
        <p:spPr>
          <a:xfrm>
            <a:off x="1069848" y="493776"/>
            <a:ext cx="10543032" cy="523220"/>
          </a:xfrm>
          <a:prstGeom prst="rect">
            <a:avLst/>
          </a:prstGeom>
          <a:noFill/>
        </p:spPr>
        <p:txBody>
          <a:bodyPr wrap="square" rtlCol="0">
            <a:spAutoFit/>
          </a:bodyPr>
          <a:lstStyle/>
          <a:p>
            <a:pPr algn="ctr"/>
            <a:r>
              <a:rPr lang="en-US" sz="2800" b="1" dirty="0">
                <a:solidFill>
                  <a:srgbClr val="7030A0"/>
                </a:solidFill>
                <a:latin typeface="Times New Roman" panose="02020603050405020304" pitchFamily="18" charset="0"/>
                <a:cs typeface="Times New Roman" panose="02020603050405020304" pitchFamily="18" charset="0"/>
              </a:rPr>
              <a:t>Our Mission Robot</a:t>
            </a:r>
          </a:p>
        </p:txBody>
      </p:sp>
      <p:sp>
        <p:nvSpPr>
          <p:cNvPr id="3" name="TextBox 2">
            <a:extLst>
              <a:ext uri="{FF2B5EF4-FFF2-40B4-BE49-F238E27FC236}">
                <a16:creationId xmlns:a16="http://schemas.microsoft.com/office/drawing/2014/main" id="{1BC6CAD5-732D-E81E-6B55-995029050972}"/>
              </a:ext>
            </a:extLst>
          </p:cNvPr>
          <p:cNvSpPr txBox="1"/>
          <p:nvPr/>
        </p:nvSpPr>
        <p:spPr>
          <a:xfrm>
            <a:off x="539496" y="1307592"/>
            <a:ext cx="11073384" cy="5078313"/>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Robot pic with arrows to key parts: chassis, left arm, right arm, and front roller/wheels.</a:t>
            </a: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One kid explains in 2–3 sentences: what problem it solves (which missions), </a:t>
            </a: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why it is tall (to reach high elements), and </a:t>
            </a: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why it is narrow (to fit between models).</a:t>
            </a:r>
          </a:p>
          <a:p>
            <a:endParaRPr lang="en-US" dirty="0"/>
          </a:p>
          <a:p>
            <a:endParaRPr lang="en-US" dirty="0"/>
          </a:p>
          <a:p>
            <a:endParaRPr lang="en-US" dirty="0"/>
          </a:p>
          <a:p>
            <a:endParaRPr lang="en-US" dirty="0"/>
          </a:p>
          <a:p>
            <a:endParaRPr lang="en-US" dirty="0"/>
          </a:p>
        </p:txBody>
      </p:sp>
      <p:pic>
        <p:nvPicPr>
          <p:cNvPr id="13" name="Picture 12" descr="Like Bee">
            <a:extLst>
              <a:ext uri="{FF2B5EF4-FFF2-40B4-BE49-F238E27FC236}">
                <a16:creationId xmlns:a16="http://schemas.microsoft.com/office/drawing/2014/main" id="{7BE279AA-CC82-4BDA-62C1-77282BAD0D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10850" y="5285852"/>
            <a:ext cx="1562099" cy="1562099"/>
          </a:xfrm>
          <a:prstGeom prst="rect">
            <a:avLst/>
          </a:prstGeom>
        </p:spPr>
      </p:pic>
    </p:spTree>
    <p:extLst>
      <p:ext uri="{BB962C8B-B14F-4D97-AF65-F5344CB8AC3E}">
        <p14:creationId xmlns:p14="http://schemas.microsoft.com/office/powerpoint/2010/main" val="3522170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42598A81-F42F-8539-CD17-7E30BA87108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A2095B8-6B24-EBDC-7A9D-235658F00D2A}"/>
              </a:ext>
            </a:extLst>
          </p:cNvPr>
          <p:cNvSpPr txBox="1"/>
          <p:nvPr/>
        </p:nvSpPr>
        <p:spPr>
          <a:xfrm>
            <a:off x="1069848" y="236601"/>
            <a:ext cx="10543032" cy="523220"/>
          </a:xfrm>
          <a:prstGeom prst="rect">
            <a:avLst/>
          </a:prstGeom>
          <a:noFill/>
        </p:spPr>
        <p:txBody>
          <a:bodyPr wrap="square" rtlCol="0">
            <a:spAutoFit/>
          </a:bodyPr>
          <a:lstStyle/>
          <a:p>
            <a:pPr algn="ctr"/>
            <a:r>
              <a:rPr lang="en-US" sz="2800" b="1" dirty="0">
                <a:solidFill>
                  <a:srgbClr val="7030A0"/>
                </a:solidFill>
                <a:latin typeface="Times New Roman" panose="02020603050405020304" pitchFamily="18" charset="0"/>
                <a:cs typeface="Times New Roman" panose="02020603050405020304" pitchFamily="18" charset="0"/>
              </a:rPr>
              <a:t>Twin Arms, Different Jobs</a:t>
            </a:r>
          </a:p>
        </p:txBody>
      </p:sp>
      <p:sp>
        <p:nvSpPr>
          <p:cNvPr id="3" name="TextBox 2">
            <a:extLst>
              <a:ext uri="{FF2B5EF4-FFF2-40B4-BE49-F238E27FC236}">
                <a16:creationId xmlns:a16="http://schemas.microsoft.com/office/drawing/2014/main" id="{9AA5DF34-5AFA-E6D7-9D28-44443088D977}"/>
              </a:ext>
            </a:extLst>
          </p:cNvPr>
          <p:cNvSpPr txBox="1"/>
          <p:nvPr/>
        </p:nvSpPr>
        <p:spPr>
          <a:xfrm>
            <a:off x="314326" y="859918"/>
            <a:ext cx="11877674" cy="5355312"/>
          </a:xfrm>
          <a:prstGeom prst="rect">
            <a:avLst/>
          </a:prstGeom>
          <a:noFill/>
        </p:spPr>
        <p:txBody>
          <a:bodyPr wrap="square" rtlCol="0">
            <a:spAutoFit/>
          </a:bodyPr>
          <a:lstStyle/>
          <a:p>
            <a:pPr marL="342900" indent="-342900">
              <a:buAutoNum type="arabicPeriod"/>
            </a:pPr>
            <a:r>
              <a:rPr lang="en-US" dirty="0">
                <a:latin typeface="Times New Roman" panose="02020603050405020304" pitchFamily="18" charset="0"/>
                <a:cs typeface="Times New Roman" panose="02020603050405020304" pitchFamily="18" charset="0"/>
              </a:rPr>
              <a:t>Left arm is being used to solve missions from right home, as the design suits to the missions to be solved.</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Right arm has two different attachments for two different mission solutions and left arm uses same attachment to solve multiple missions. It was decided based purely on nature of the missions.</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These two arms are of basic design which is easy to repair and contains parts that are easy to replace/rebuild.</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One arm is used to grab the model with two prong attachment and also to lift the statue after replacing with a wing attachment.</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Second arm is used to lift, drop and pull which needed to have a fork type of attachment.</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The reason for its tall arms to reach far away models which saves time, since they are kind of fixed, we make sure the height is within allowed 12 inches.</a:t>
            </a: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7.  Box body is to have more stability while making turns, lifting  and to easily move between missions.</a:t>
            </a:r>
          </a:p>
          <a:p>
            <a:endParaRPr lang="en-US" dirty="0"/>
          </a:p>
          <a:p>
            <a:endParaRPr lang="en-US" dirty="0"/>
          </a:p>
          <a:p>
            <a:endParaRPr lang="en-US" dirty="0"/>
          </a:p>
        </p:txBody>
      </p:sp>
      <p:pic>
        <p:nvPicPr>
          <p:cNvPr id="11" name="Picture 10" descr="High Five Bee">
            <a:extLst>
              <a:ext uri="{FF2B5EF4-FFF2-40B4-BE49-F238E27FC236}">
                <a16:creationId xmlns:a16="http://schemas.microsoft.com/office/drawing/2014/main" id="{EB0868B4-35E5-2B99-8A9E-54C62350BA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10750" y="4343400"/>
            <a:ext cx="2381250" cy="2381250"/>
          </a:xfrm>
          <a:prstGeom prst="rect">
            <a:avLst/>
          </a:prstGeom>
        </p:spPr>
      </p:pic>
    </p:spTree>
    <p:extLst>
      <p:ext uri="{BB962C8B-B14F-4D97-AF65-F5344CB8AC3E}">
        <p14:creationId xmlns:p14="http://schemas.microsoft.com/office/powerpoint/2010/main" val="375406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5C0EF3AE-413A-0B48-991A-4F8FD726D8B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F2BF194-6854-AD7F-DC61-1E695A4C8C7B}"/>
              </a:ext>
            </a:extLst>
          </p:cNvPr>
          <p:cNvPicPr>
            <a:picLocks noChangeAspect="1"/>
          </p:cNvPicPr>
          <p:nvPr/>
        </p:nvPicPr>
        <p:blipFill>
          <a:blip r:embed="rId2"/>
          <a:stretch>
            <a:fillRect/>
          </a:stretch>
        </p:blipFill>
        <p:spPr>
          <a:xfrm>
            <a:off x="7577848" y="-2755"/>
            <a:ext cx="4589430" cy="6856008"/>
          </a:xfrm>
          <a:prstGeom prst="rect">
            <a:avLst/>
          </a:prstGeom>
        </p:spPr>
      </p:pic>
      <p:pic>
        <p:nvPicPr>
          <p:cNvPr id="3" name="Picture 2">
            <a:extLst>
              <a:ext uri="{FF2B5EF4-FFF2-40B4-BE49-F238E27FC236}">
                <a16:creationId xmlns:a16="http://schemas.microsoft.com/office/drawing/2014/main" id="{D73AAB37-8055-7C44-586F-8F6ED9682CD7}"/>
              </a:ext>
            </a:extLst>
          </p:cNvPr>
          <p:cNvPicPr>
            <a:picLocks noChangeAspect="1"/>
          </p:cNvPicPr>
          <p:nvPr/>
        </p:nvPicPr>
        <p:blipFill>
          <a:blip r:embed="rId3"/>
          <a:srcRect l="14672" r="14730" b="2"/>
          <a:stretch>
            <a:fillRect/>
          </a:stretch>
        </p:blipFill>
        <p:spPr>
          <a:xfrm>
            <a:off x="612797" y="3873418"/>
            <a:ext cx="2709729" cy="2752231"/>
          </a:xfrm>
          <a:prstGeom prst="rect">
            <a:avLst/>
          </a:prstGeom>
        </p:spPr>
      </p:pic>
      <p:pic>
        <p:nvPicPr>
          <p:cNvPr id="5" name="Picture 4">
            <a:extLst>
              <a:ext uri="{FF2B5EF4-FFF2-40B4-BE49-F238E27FC236}">
                <a16:creationId xmlns:a16="http://schemas.microsoft.com/office/drawing/2014/main" id="{156BB0FA-54ED-36CA-E882-645847045A27}"/>
              </a:ext>
            </a:extLst>
          </p:cNvPr>
          <p:cNvPicPr>
            <a:picLocks noChangeAspect="1"/>
          </p:cNvPicPr>
          <p:nvPr/>
        </p:nvPicPr>
        <p:blipFill>
          <a:blip r:embed="rId4"/>
          <a:stretch>
            <a:fillRect/>
          </a:stretch>
        </p:blipFill>
        <p:spPr>
          <a:xfrm>
            <a:off x="3440409" y="3979914"/>
            <a:ext cx="1639282" cy="2539238"/>
          </a:xfrm>
          <a:prstGeom prst="rect">
            <a:avLst/>
          </a:prstGeom>
        </p:spPr>
      </p:pic>
      <p:pic>
        <p:nvPicPr>
          <p:cNvPr id="7" name="Picture 6">
            <a:extLst>
              <a:ext uri="{FF2B5EF4-FFF2-40B4-BE49-F238E27FC236}">
                <a16:creationId xmlns:a16="http://schemas.microsoft.com/office/drawing/2014/main" id="{EB074582-F5BE-BCD3-AE03-A95CBB4107C3}"/>
              </a:ext>
            </a:extLst>
          </p:cNvPr>
          <p:cNvPicPr>
            <a:picLocks noChangeAspect="1"/>
          </p:cNvPicPr>
          <p:nvPr/>
        </p:nvPicPr>
        <p:blipFill>
          <a:blip r:embed="rId5"/>
          <a:srcRect t="4719" r="-5" b="4977"/>
          <a:stretch>
            <a:fillRect/>
          </a:stretch>
        </p:blipFill>
        <p:spPr>
          <a:xfrm>
            <a:off x="5585075" y="3873418"/>
            <a:ext cx="2149946" cy="2174616"/>
          </a:xfrm>
          <a:prstGeom prst="rect">
            <a:avLst/>
          </a:prstGeom>
        </p:spPr>
      </p:pic>
      <p:sp>
        <p:nvSpPr>
          <p:cNvPr id="8" name="TextBox 7">
            <a:extLst>
              <a:ext uri="{FF2B5EF4-FFF2-40B4-BE49-F238E27FC236}">
                <a16:creationId xmlns:a16="http://schemas.microsoft.com/office/drawing/2014/main" id="{7C3C4F26-28B2-092B-F12C-E1A1E089D91C}"/>
              </a:ext>
            </a:extLst>
          </p:cNvPr>
          <p:cNvSpPr txBox="1"/>
          <p:nvPr/>
        </p:nvSpPr>
        <p:spPr>
          <a:xfrm>
            <a:off x="1768341" y="88715"/>
            <a:ext cx="5691624" cy="451159"/>
          </a:xfrm>
          <a:prstGeom prst="rect">
            <a:avLst/>
          </a:prstGeom>
        </p:spPr>
        <p:txBody>
          <a:bodyPr vert="horz" lIns="91440" tIns="45720" rIns="91440" bIns="45720" rtlCol="0" anchor="b">
            <a:normAutofit fontScale="92500" lnSpcReduction="10000"/>
          </a:bodyPr>
          <a:lstStyle/>
          <a:p>
            <a:pPr>
              <a:spcBef>
                <a:spcPct val="0"/>
              </a:spcBef>
              <a:spcAft>
                <a:spcPts val="600"/>
              </a:spcAft>
            </a:pPr>
            <a:r>
              <a:rPr lang="en-US" sz="2800" b="1" dirty="0">
                <a:solidFill>
                  <a:srgbClr val="7030A0"/>
                </a:solidFill>
                <a:latin typeface="Times New Roman" panose="02020603050405020304" pitchFamily="18" charset="0"/>
                <a:cs typeface="Times New Roman" panose="02020603050405020304" pitchFamily="18" charset="0"/>
              </a:rPr>
              <a:t>Forge, Heavy lifting &amp; who lived here?</a:t>
            </a:r>
          </a:p>
        </p:txBody>
      </p:sp>
      <p:sp>
        <p:nvSpPr>
          <p:cNvPr id="4" name="TextBox 3">
            <a:extLst>
              <a:ext uri="{FF2B5EF4-FFF2-40B4-BE49-F238E27FC236}">
                <a16:creationId xmlns:a16="http://schemas.microsoft.com/office/drawing/2014/main" id="{20031283-6E1F-5A66-77D5-D13BC3F80895}"/>
              </a:ext>
            </a:extLst>
          </p:cNvPr>
          <p:cNvSpPr txBox="1"/>
          <p:nvPr/>
        </p:nvSpPr>
        <p:spPr>
          <a:xfrm>
            <a:off x="323850" y="723900"/>
            <a:ext cx="7411171" cy="923330"/>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Solved all 3 mission in one run to score 90 points, used a passive attachment to roll down the forge rocks and to find out who lived here. Left arm is being used to lift the ring. </a:t>
            </a:r>
            <a:r>
              <a:rPr lang="en-US" dirty="0">
                <a:latin typeface="Times New Roman" panose="02020603050405020304" pitchFamily="18" charset="0"/>
                <a:cs typeface="Times New Roman" panose="02020603050405020304" pitchFamily="18" charset="0"/>
                <a:sym typeface="Wingdings" panose="05000000000000000000" pitchFamily="2" charset="2"/>
              </a:rPr>
              <a:t></a:t>
            </a:r>
            <a:endParaRPr lang="en-US" dirty="0">
              <a:latin typeface="Times New Roman" panose="02020603050405020304" pitchFamily="18" charset="0"/>
              <a:cs typeface="Times New Roman" panose="02020603050405020304" pitchFamily="18" charset="0"/>
            </a:endParaRPr>
          </a:p>
        </p:txBody>
      </p:sp>
      <p:pic>
        <p:nvPicPr>
          <p:cNvPr id="11" name="Picture 10" descr="Friendship Doggo">
            <a:extLst>
              <a:ext uri="{FF2B5EF4-FFF2-40B4-BE49-F238E27FC236}">
                <a16:creationId xmlns:a16="http://schemas.microsoft.com/office/drawing/2014/main" id="{098FC478-86A7-E762-D91F-6D24A0DFBB5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895585" y="4581560"/>
            <a:ext cx="2271693" cy="2271693"/>
          </a:xfrm>
          <a:prstGeom prst="rect">
            <a:avLst/>
          </a:prstGeom>
        </p:spPr>
      </p:pic>
    </p:spTree>
    <p:extLst>
      <p:ext uri="{BB962C8B-B14F-4D97-AF65-F5344CB8AC3E}">
        <p14:creationId xmlns:p14="http://schemas.microsoft.com/office/powerpoint/2010/main" val="9511308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20EBBCE-61CE-7340-C875-9255BE1A86AF}"/>
              </a:ext>
            </a:extLst>
          </p:cNvPr>
          <p:cNvPicPr>
            <a:picLocks noChangeAspect="1"/>
          </p:cNvPicPr>
          <p:nvPr/>
        </p:nvPicPr>
        <p:blipFill>
          <a:blip r:embed="rId2"/>
          <a:stretch>
            <a:fillRect/>
          </a:stretch>
        </p:blipFill>
        <p:spPr>
          <a:xfrm>
            <a:off x="4855439" y="3000374"/>
            <a:ext cx="3488806" cy="3369441"/>
          </a:xfrm>
          <a:prstGeom prst="rect">
            <a:avLst/>
          </a:prstGeom>
        </p:spPr>
      </p:pic>
      <p:pic>
        <p:nvPicPr>
          <p:cNvPr id="4" name="Picture 3">
            <a:extLst>
              <a:ext uri="{FF2B5EF4-FFF2-40B4-BE49-F238E27FC236}">
                <a16:creationId xmlns:a16="http://schemas.microsoft.com/office/drawing/2014/main" id="{1B4D0921-6D89-E8DC-AD0B-0BFD72CE1960}"/>
              </a:ext>
            </a:extLst>
          </p:cNvPr>
          <p:cNvPicPr>
            <a:picLocks noChangeAspect="1"/>
          </p:cNvPicPr>
          <p:nvPr/>
        </p:nvPicPr>
        <p:blipFill>
          <a:blip r:embed="rId3"/>
          <a:stretch>
            <a:fillRect/>
          </a:stretch>
        </p:blipFill>
        <p:spPr>
          <a:xfrm>
            <a:off x="584590" y="3297677"/>
            <a:ext cx="3488807" cy="3000374"/>
          </a:xfrm>
          <a:prstGeom prst="rect">
            <a:avLst/>
          </a:prstGeom>
        </p:spPr>
      </p:pic>
      <p:pic>
        <p:nvPicPr>
          <p:cNvPr id="9" name="Picture 8">
            <a:extLst>
              <a:ext uri="{FF2B5EF4-FFF2-40B4-BE49-F238E27FC236}">
                <a16:creationId xmlns:a16="http://schemas.microsoft.com/office/drawing/2014/main" id="{3FC8F2F8-6699-842B-4961-1164CFBF5E84}"/>
              </a:ext>
            </a:extLst>
          </p:cNvPr>
          <p:cNvPicPr>
            <a:picLocks noChangeAspect="1"/>
          </p:cNvPicPr>
          <p:nvPr/>
        </p:nvPicPr>
        <p:blipFill>
          <a:blip r:embed="rId4"/>
          <a:stretch>
            <a:fillRect/>
          </a:stretch>
        </p:blipFill>
        <p:spPr>
          <a:xfrm>
            <a:off x="8343899" y="0"/>
            <a:ext cx="3648075" cy="6858000"/>
          </a:xfrm>
          <a:prstGeom prst="rect">
            <a:avLst/>
          </a:prstGeom>
        </p:spPr>
      </p:pic>
      <p:sp>
        <p:nvSpPr>
          <p:cNvPr id="12" name="TextBox 11">
            <a:extLst>
              <a:ext uri="{FF2B5EF4-FFF2-40B4-BE49-F238E27FC236}">
                <a16:creationId xmlns:a16="http://schemas.microsoft.com/office/drawing/2014/main" id="{E230F86C-F787-2F30-A28B-635E79C5EB45}"/>
              </a:ext>
            </a:extLst>
          </p:cNvPr>
          <p:cNvSpPr txBox="1"/>
          <p:nvPr/>
        </p:nvSpPr>
        <p:spPr>
          <a:xfrm>
            <a:off x="2067254" y="64649"/>
            <a:ext cx="5202226" cy="581211"/>
          </a:xfrm>
          <a:prstGeom prst="rect">
            <a:avLst/>
          </a:prstGeom>
        </p:spPr>
        <p:txBody>
          <a:bodyPr vert="horz" lIns="91440" tIns="45720" rIns="91440" bIns="45720" rtlCol="0" anchor="b">
            <a:normAutofit/>
          </a:bodyPr>
          <a:lstStyle/>
          <a:p>
            <a:pPr>
              <a:spcBef>
                <a:spcPct val="0"/>
              </a:spcBef>
              <a:spcAft>
                <a:spcPts val="600"/>
              </a:spcAft>
            </a:pPr>
            <a:r>
              <a:rPr lang="en-US" sz="2800" b="1" dirty="0">
                <a:solidFill>
                  <a:srgbClr val="7030A0"/>
                </a:solidFill>
                <a:latin typeface="Times New Roman" panose="02020603050405020304" pitchFamily="18" charset="0"/>
                <a:cs typeface="Times New Roman" panose="02020603050405020304" pitchFamily="18" charset="0"/>
              </a:rPr>
              <a:t>Tip the Scale &amp; what’s on Sale?</a:t>
            </a:r>
          </a:p>
        </p:txBody>
      </p:sp>
      <p:pic>
        <p:nvPicPr>
          <p:cNvPr id="21" name="Picture 20">
            <a:extLst>
              <a:ext uri="{FF2B5EF4-FFF2-40B4-BE49-F238E27FC236}">
                <a16:creationId xmlns:a16="http://schemas.microsoft.com/office/drawing/2014/main" id="{06B1E1D9-9206-A6EA-40B3-50F9FDB823C6}"/>
              </a:ext>
            </a:extLst>
          </p:cNvPr>
          <p:cNvPicPr>
            <a:picLocks noChangeAspect="1"/>
          </p:cNvPicPr>
          <p:nvPr/>
        </p:nvPicPr>
        <p:blipFill>
          <a:blip r:embed="rId5"/>
          <a:stretch>
            <a:fillRect/>
          </a:stretch>
        </p:blipFill>
        <p:spPr>
          <a:xfrm>
            <a:off x="3934884" y="2489771"/>
            <a:ext cx="771633" cy="1371791"/>
          </a:xfrm>
          <a:prstGeom prst="rect">
            <a:avLst/>
          </a:prstGeom>
        </p:spPr>
      </p:pic>
      <p:sp>
        <p:nvSpPr>
          <p:cNvPr id="24" name="TextBox 23">
            <a:extLst>
              <a:ext uri="{FF2B5EF4-FFF2-40B4-BE49-F238E27FC236}">
                <a16:creationId xmlns:a16="http://schemas.microsoft.com/office/drawing/2014/main" id="{22F41FCC-421A-85BD-4DCA-4C40BBC62BA2}"/>
              </a:ext>
            </a:extLst>
          </p:cNvPr>
          <p:cNvSpPr txBox="1"/>
          <p:nvPr/>
        </p:nvSpPr>
        <p:spPr>
          <a:xfrm>
            <a:off x="323850" y="723900"/>
            <a:ext cx="7411171" cy="1200329"/>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One of the tough missions to solve this season, doing 2 runs in 35 seconds to score 75 points. Used a passive attachment to raise the roof and another to lift the store. Used a one side puller to drag the scale out and knock off the bucket because of it. </a:t>
            </a:r>
            <a:r>
              <a:rPr lang="en-US" dirty="0">
                <a:latin typeface="Times New Roman" panose="02020603050405020304" pitchFamily="18" charset="0"/>
                <a:cs typeface="Times New Roman" panose="02020603050405020304" pitchFamily="18" charset="0"/>
                <a:sym typeface="Wingdings" panose="05000000000000000000" pitchFamily="2" charset="2"/>
              </a:rPr>
              <a:t></a:t>
            </a:r>
            <a:endParaRPr lang="en-US" dirty="0">
              <a:latin typeface="Times New Roman" panose="02020603050405020304" pitchFamily="18" charset="0"/>
              <a:cs typeface="Times New Roman" panose="02020603050405020304" pitchFamily="18" charset="0"/>
            </a:endParaRPr>
          </a:p>
        </p:txBody>
      </p:sp>
      <p:pic>
        <p:nvPicPr>
          <p:cNvPr id="26" name="Picture 25" descr="Bicycle Dude">
            <a:extLst>
              <a:ext uri="{FF2B5EF4-FFF2-40B4-BE49-F238E27FC236}">
                <a16:creationId xmlns:a16="http://schemas.microsoft.com/office/drawing/2014/main" id="{2BB19F8F-24C2-1323-C302-CEB5777026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167936" y="4685094"/>
            <a:ext cx="2024064" cy="2172906"/>
          </a:xfrm>
          <a:prstGeom prst="rect">
            <a:avLst/>
          </a:prstGeom>
        </p:spPr>
      </p:pic>
    </p:spTree>
    <p:extLst>
      <p:ext uri="{BB962C8B-B14F-4D97-AF65-F5344CB8AC3E}">
        <p14:creationId xmlns:p14="http://schemas.microsoft.com/office/powerpoint/2010/main" val="8824623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6E4A6771-077C-4C4E-B176-16FF74AD330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7BA809E-AA29-6AEC-816B-3443FC7F82A0}"/>
              </a:ext>
            </a:extLst>
          </p:cNvPr>
          <p:cNvPicPr>
            <a:picLocks noChangeAspect="1"/>
          </p:cNvPicPr>
          <p:nvPr/>
        </p:nvPicPr>
        <p:blipFill>
          <a:blip r:embed="rId2"/>
          <a:stretch>
            <a:fillRect/>
          </a:stretch>
        </p:blipFill>
        <p:spPr>
          <a:xfrm>
            <a:off x="1135497" y="1650195"/>
            <a:ext cx="2574662" cy="3228416"/>
          </a:xfrm>
          <a:prstGeom prst="rect">
            <a:avLst/>
          </a:prstGeom>
        </p:spPr>
      </p:pic>
      <p:sp>
        <p:nvSpPr>
          <p:cNvPr id="3" name="TextBox 2">
            <a:extLst>
              <a:ext uri="{FF2B5EF4-FFF2-40B4-BE49-F238E27FC236}">
                <a16:creationId xmlns:a16="http://schemas.microsoft.com/office/drawing/2014/main" id="{135B73F3-DFF3-F307-53DF-12029EC9E721}"/>
              </a:ext>
            </a:extLst>
          </p:cNvPr>
          <p:cNvSpPr txBox="1"/>
          <p:nvPr/>
        </p:nvSpPr>
        <p:spPr>
          <a:xfrm>
            <a:off x="1687449" y="166982"/>
            <a:ext cx="5064498" cy="591975"/>
          </a:xfrm>
          <a:prstGeom prst="rect">
            <a:avLst/>
          </a:prstGeom>
        </p:spPr>
        <p:txBody>
          <a:bodyPr vert="horz" lIns="91440" tIns="45720" rIns="91440" bIns="45720" rtlCol="0" anchor="b">
            <a:normAutofit/>
          </a:bodyPr>
          <a:lstStyle>
            <a:defPPr>
              <a:defRPr lang="en-US"/>
            </a:defPPr>
            <a:lvl1pPr>
              <a:spcBef>
                <a:spcPct val="0"/>
              </a:spcBef>
              <a:spcAft>
                <a:spcPts val="600"/>
              </a:spcAft>
              <a:defRPr sz="2800" b="1">
                <a:solidFill>
                  <a:srgbClr val="7030A0"/>
                </a:solidFill>
                <a:latin typeface="Times New Roman" panose="02020603050405020304" pitchFamily="18" charset="0"/>
                <a:cs typeface="Times New Roman" panose="02020603050405020304" pitchFamily="18" charset="0"/>
              </a:defRPr>
            </a:lvl1pPr>
          </a:lstStyle>
          <a:p>
            <a:pPr algn="ctr"/>
            <a:r>
              <a:rPr lang="en-US" dirty="0"/>
              <a:t>SALVAGE OPERATION</a:t>
            </a:r>
          </a:p>
        </p:txBody>
      </p:sp>
      <p:sp>
        <p:nvSpPr>
          <p:cNvPr id="9" name="TextBox 8">
            <a:extLst>
              <a:ext uri="{FF2B5EF4-FFF2-40B4-BE49-F238E27FC236}">
                <a16:creationId xmlns:a16="http://schemas.microsoft.com/office/drawing/2014/main" id="{DDE66BF6-CA0C-2A62-6F09-EAED001CF0DA}"/>
              </a:ext>
            </a:extLst>
          </p:cNvPr>
          <p:cNvSpPr txBox="1"/>
          <p:nvPr/>
        </p:nvSpPr>
        <p:spPr>
          <a:xfrm>
            <a:off x="247134" y="874875"/>
            <a:ext cx="9433495" cy="1200329"/>
          </a:xfrm>
          <a:prstGeom prst="rect">
            <a:avLst/>
          </a:prstGeom>
          <a:noFill/>
        </p:spPr>
        <p:txBody>
          <a:bodyPr wrap="square" rtlCol="0">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US" sz="1800" i="0" u="none" strike="noStrike" kern="1200" cap="none" spc="0" normalizeH="0" baseline="0" noProof="0" dirty="0">
                <a:ln>
                  <a:noFill/>
                </a:ln>
                <a:solidFill>
                  <a:srgbClr val="000000"/>
                </a:solidFill>
                <a:effectLst/>
                <a:uLnTx/>
                <a:uFillTx/>
                <a:latin typeface="Times New Roman" panose="02020603050405020304" pitchFamily="18" charset="0"/>
                <a:ea typeface="Tahoma" panose="020B0604030504040204" pitchFamily="34" charset="0"/>
                <a:cs typeface="Times New Roman" panose="02020603050405020304" pitchFamily="18" charset="0"/>
              </a:rPr>
              <a:t>While doing the mission salvage operation, </a:t>
            </a:r>
            <a:r>
              <a:rPr lang="en-US" dirty="0">
                <a:solidFill>
                  <a:srgbClr val="000000"/>
                </a:solidFill>
                <a:latin typeface="Times New Roman" panose="02020603050405020304" pitchFamily="18" charset="0"/>
                <a:ea typeface="Tahoma" panose="020B0604030504040204" pitchFamily="34" charset="0"/>
                <a:cs typeface="Times New Roman" panose="02020603050405020304" pitchFamily="18" charset="0"/>
              </a:rPr>
              <a:t>came across multiple hurdles like missing target while dropping the flag, ship is not raising fully etc. Could solve them by using a passive</a:t>
            </a:r>
            <a:r>
              <a:rPr kumimoji="0" lang="en-US" sz="1800" i="0" u="none" strike="noStrike" kern="1200" cap="none" spc="0" normalizeH="0" baseline="0" noProof="0" dirty="0">
                <a:ln>
                  <a:noFill/>
                </a:ln>
                <a:solidFill>
                  <a:srgbClr val="000000"/>
                </a:solidFill>
                <a:effectLst/>
                <a:uLnTx/>
                <a:uFillTx/>
                <a:latin typeface="Times New Roman" panose="02020603050405020304" pitchFamily="18" charset="0"/>
                <a:ea typeface="Tahoma" panose="020B0604030504040204" pitchFamily="34" charset="0"/>
                <a:cs typeface="Times New Roman" panose="02020603050405020304" pitchFamily="18" charset="0"/>
              </a:rPr>
              <a:t> attachment </a:t>
            </a:r>
            <a:r>
              <a:rPr lang="en-US" dirty="0">
                <a:solidFill>
                  <a:srgbClr val="000000"/>
                </a:solidFill>
                <a:latin typeface="Times New Roman" panose="02020603050405020304" pitchFamily="18" charset="0"/>
                <a:ea typeface="Tahoma" panose="020B0604030504040204" pitchFamily="34" charset="0"/>
                <a:cs typeface="Times New Roman" panose="02020603050405020304" pitchFamily="18" charset="0"/>
              </a:rPr>
              <a:t>to</a:t>
            </a:r>
            <a:r>
              <a:rPr kumimoji="0" lang="en-US" sz="1800" i="0" u="none" strike="noStrike" kern="1200" cap="none" spc="0" normalizeH="0" baseline="0" noProof="0" dirty="0">
                <a:ln>
                  <a:noFill/>
                </a:ln>
                <a:solidFill>
                  <a:srgbClr val="000000"/>
                </a:solidFill>
                <a:effectLst/>
                <a:uLnTx/>
                <a:uFillTx/>
                <a:latin typeface="Times New Roman" panose="02020603050405020304" pitchFamily="18" charset="0"/>
                <a:ea typeface="Tahoma" panose="020B0604030504040204" pitchFamily="34" charset="0"/>
                <a:cs typeface="Times New Roman" panose="02020603050405020304" pitchFamily="18" charset="0"/>
              </a:rPr>
              <a:t> push the ship, right arm to slide down the sand and left arm to drop the flag in a sequential manner.</a:t>
            </a:r>
            <a:endParaRPr kumimoji="0" lang="en-US" sz="1800" i="0" u="none" strike="noStrike" kern="1200" cap="none" spc="0" normalizeH="0" baseline="0" noProof="0" dirty="0">
              <a:ln>
                <a:noFill/>
              </a:ln>
              <a:solidFill>
                <a:srgbClr val="7F7F7F"/>
              </a:solidFill>
              <a:effectLst/>
              <a:uLnTx/>
              <a:uFillTx/>
              <a:latin typeface="Times New Roman" panose="02020603050405020304" pitchFamily="18" charset="0"/>
              <a:ea typeface="Tahoma" panose="020B0604030504040204" pitchFamily="34" charset="0"/>
              <a:cs typeface="Times New Roman" panose="02020603050405020304" pitchFamily="18"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pic>
        <p:nvPicPr>
          <p:cNvPr id="21" name="Picture 20">
            <a:extLst>
              <a:ext uri="{FF2B5EF4-FFF2-40B4-BE49-F238E27FC236}">
                <a16:creationId xmlns:a16="http://schemas.microsoft.com/office/drawing/2014/main" id="{19B767AC-1F09-68FA-5B44-51DDCAB3CFDB}"/>
              </a:ext>
            </a:extLst>
          </p:cNvPr>
          <p:cNvPicPr>
            <a:picLocks noChangeAspect="1"/>
          </p:cNvPicPr>
          <p:nvPr/>
        </p:nvPicPr>
        <p:blipFill>
          <a:blip r:embed="rId3"/>
          <a:stretch>
            <a:fillRect/>
          </a:stretch>
        </p:blipFill>
        <p:spPr>
          <a:xfrm>
            <a:off x="2295417" y="2407058"/>
            <a:ext cx="771633" cy="1371791"/>
          </a:xfrm>
          <a:prstGeom prst="rect">
            <a:avLst/>
          </a:prstGeom>
        </p:spPr>
      </p:pic>
      <p:pic>
        <p:nvPicPr>
          <p:cNvPr id="23" name="Picture 22">
            <a:extLst>
              <a:ext uri="{FF2B5EF4-FFF2-40B4-BE49-F238E27FC236}">
                <a16:creationId xmlns:a16="http://schemas.microsoft.com/office/drawing/2014/main" id="{8B414384-54B5-AADA-7DFF-7365E89CE28D}"/>
              </a:ext>
            </a:extLst>
          </p:cNvPr>
          <p:cNvPicPr>
            <a:picLocks noChangeAspect="1"/>
          </p:cNvPicPr>
          <p:nvPr/>
        </p:nvPicPr>
        <p:blipFill>
          <a:blip r:embed="rId4"/>
          <a:stretch>
            <a:fillRect/>
          </a:stretch>
        </p:blipFill>
        <p:spPr>
          <a:xfrm>
            <a:off x="9680630" y="0"/>
            <a:ext cx="2489090" cy="6858000"/>
          </a:xfrm>
          <a:prstGeom prst="rect">
            <a:avLst/>
          </a:prstGeom>
        </p:spPr>
      </p:pic>
      <p:pic>
        <p:nvPicPr>
          <p:cNvPr id="29" name="Picture 28" descr="Fist Bump Bee">
            <a:extLst>
              <a:ext uri="{FF2B5EF4-FFF2-40B4-BE49-F238E27FC236}">
                <a16:creationId xmlns:a16="http://schemas.microsoft.com/office/drawing/2014/main" id="{7D1FBCF5-5603-313C-22FC-52EEA8A39F0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52214" y="4275859"/>
            <a:ext cx="3228416" cy="3228416"/>
          </a:xfrm>
          <a:prstGeom prst="rect">
            <a:avLst/>
          </a:prstGeom>
        </p:spPr>
      </p:pic>
    </p:spTree>
    <p:extLst>
      <p:ext uri="{BB962C8B-B14F-4D97-AF65-F5344CB8AC3E}">
        <p14:creationId xmlns:p14="http://schemas.microsoft.com/office/powerpoint/2010/main" val="38325923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9E9F7EFB-4BDE-0904-27B9-9FF1061D99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105E814-7601-D118-4BFC-28B6D2163FA9}"/>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Surface Brushing</a:t>
            </a:r>
          </a:p>
        </p:txBody>
      </p:sp>
      <p:pic>
        <p:nvPicPr>
          <p:cNvPr id="9" name="Picture 8">
            <a:extLst>
              <a:ext uri="{FF2B5EF4-FFF2-40B4-BE49-F238E27FC236}">
                <a16:creationId xmlns:a16="http://schemas.microsoft.com/office/drawing/2014/main" id="{3A214F0C-7420-6C4B-D817-4FF0AE91DF24}"/>
              </a:ext>
            </a:extLst>
          </p:cNvPr>
          <p:cNvPicPr>
            <a:picLocks noChangeAspect="1"/>
          </p:cNvPicPr>
          <p:nvPr/>
        </p:nvPicPr>
        <p:blipFill>
          <a:blip r:embed="rId2"/>
          <a:stretch>
            <a:fillRect/>
          </a:stretch>
        </p:blipFill>
        <p:spPr>
          <a:xfrm>
            <a:off x="5751720" y="2538984"/>
            <a:ext cx="2574662" cy="1782953"/>
          </a:xfrm>
          <a:prstGeom prst="rect">
            <a:avLst/>
          </a:prstGeom>
        </p:spPr>
      </p:pic>
      <p:pic>
        <p:nvPicPr>
          <p:cNvPr id="5" name="Picture 4">
            <a:extLst>
              <a:ext uri="{FF2B5EF4-FFF2-40B4-BE49-F238E27FC236}">
                <a16:creationId xmlns:a16="http://schemas.microsoft.com/office/drawing/2014/main" id="{A42B3F6A-C770-36CF-37F0-804EBB915E48}"/>
              </a:ext>
            </a:extLst>
          </p:cNvPr>
          <p:cNvPicPr>
            <a:picLocks noChangeAspect="1"/>
          </p:cNvPicPr>
          <p:nvPr/>
        </p:nvPicPr>
        <p:blipFill>
          <a:blip r:embed="rId3"/>
          <a:stretch>
            <a:fillRect/>
          </a:stretch>
        </p:blipFill>
        <p:spPr>
          <a:xfrm>
            <a:off x="8490108" y="2140313"/>
            <a:ext cx="2574662" cy="2581115"/>
          </a:xfrm>
          <a:prstGeom prst="rect">
            <a:avLst/>
          </a:prstGeom>
        </p:spPr>
      </p:pic>
    </p:spTree>
    <p:extLst>
      <p:ext uri="{BB962C8B-B14F-4D97-AF65-F5344CB8AC3E}">
        <p14:creationId xmlns:p14="http://schemas.microsoft.com/office/powerpoint/2010/main" val="31469386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6E4A6771-077C-4C4E-B176-16FF74AD330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89B2E0B-95B2-BE02-252B-7866B6E91ADA}"/>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Salvage Operation</a:t>
            </a:r>
          </a:p>
        </p:txBody>
      </p:sp>
      <p:pic>
        <p:nvPicPr>
          <p:cNvPr id="6" name="Picture 5">
            <a:extLst>
              <a:ext uri="{FF2B5EF4-FFF2-40B4-BE49-F238E27FC236}">
                <a16:creationId xmlns:a16="http://schemas.microsoft.com/office/drawing/2014/main" id="{9D76BCAB-223B-443A-057C-A6E0E0E5E5CF}"/>
              </a:ext>
            </a:extLst>
          </p:cNvPr>
          <p:cNvPicPr>
            <a:picLocks noChangeAspect="1"/>
          </p:cNvPicPr>
          <p:nvPr/>
        </p:nvPicPr>
        <p:blipFill>
          <a:blip r:embed="rId2"/>
          <a:stretch>
            <a:fillRect/>
          </a:stretch>
        </p:blipFill>
        <p:spPr>
          <a:xfrm>
            <a:off x="5751719" y="1685925"/>
            <a:ext cx="2694435" cy="3000375"/>
          </a:xfrm>
          <a:prstGeom prst="rect">
            <a:avLst/>
          </a:prstGeom>
        </p:spPr>
      </p:pic>
      <p:pic>
        <p:nvPicPr>
          <p:cNvPr id="7" name="Picture 6">
            <a:extLst>
              <a:ext uri="{FF2B5EF4-FFF2-40B4-BE49-F238E27FC236}">
                <a16:creationId xmlns:a16="http://schemas.microsoft.com/office/drawing/2014/main" id="{47BA809E-AA29-6AEC-816B-3443FC7F82A0}"/>
              </a:ext>
            </a:extLst>
          </p:cNvPr>
          <p:cNvPicPr>
            <a:picLocks noChangeAspect="1"/>
          </p:cNvPicPr>
          <p:nvPr/>
        </p:nvPicPr>
        <p:blipFill>
          <a:blip r:embed="rId3"/>
          <a:stretch>
            <a:fillRect/>
          </a:stretch>
        </p:blipFill>
        <p:spPr>
          <a:xfrm>
            <a:off x="8490108" y="1816662"/>
            <a:ext cx="2574662" cy="3228416"/>
          </a:xfrm>
          <a:prstGeom prst="rect">
            <a:avLst/>
          </a:prstGeom>
        </p:spPr>
      </p:pic>
    </p:spTree>
    <p:extLst>
      <p:ext uri="{BB962C8B-B14F-4D97-AF65-F5344CB8AC3E}">
        <p14:creationId xmlns:p14="http://schemas.microsoft.com/office/powerpoint/2010/main" val="26261804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142C57D5-346F-6B17-0157-3F1034F637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0B49B7-7232-5387-E0A5-ABB013B5D591}"/>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Map Reveal</a:t>
            </a:r>
          </a:p>
        </p:txBody>
      </p:sp>
      <p:pic>
        <p:nvPicPr>
          <p:cNvPr id="8" name="Picture 7">
            <a:extLst>
              <a:ext uri="{FF2B5EF4-FFF2-40B4-BE49-F238E27FC236}">
                <a16:creationId xmlns:a16="http://schemas.microsoft.com/office/drawing/2014/main" id="{7CE405D6-454A-6897-9F7B-FF675AD84E07}"/>
              </a:ext>
            </a:extLst>
          </p:cNvPr>
          <p:cNvPicPr>
            <a:picLocks noChangeAspect="1"/>
          </p:cNvPicPr>
          <p:nvPr/>
        </p:nvPicPr>
        <p:blipFill>
          <a:blip r:embed="rId2"/>
          <a:stretch>
            <a:fillRect/>
          </a:stretch>
        </p:blipFill>
        <p:spPr>
          <a:xfrm>
            <a:off x="5751720" y="2471399"/>
            <a:ext cx="2574662" cy="1918122"/>
          </a:xfrm>
          <a:prstGeom prst="rect">
            <a:avLst/>
          </a:prstGeom>
        </p:spPr>
      </p:pic>
      <p:pic>
        <p:nvPicPr>
          <p:cNvPr id="4" name="Picture 3">
            <a:extLst>
              <a:ext uri="{FF2B5EF4-FFF2-40B4-BE49-F238E27FC236}">
                <a16:creationId xmlns:a16="http://schemas.microsoft.com/office/drawing/2014/main" id="{0DD0511C-2EE6-47D2-C221-E130C189B540}"/>
              </a:ext>
            </a:extLst>
          </p:cNvPr>
          <p:cNvPicPr>
            <a:picLocks noChangeAspect="1"/>
          </p:cNvPicPr>
          <p:nvPr/>
        </p:nvPicPr>
        <p:blipFill>
          <a:blip r:embed="rId3"/>
          <a:stretch>
            <a:fillRect/>
          </a:stretch>
        </p:blipFill>
        <p:spPr>
          <a:xfrm>
            <a:off x="8490108" y="2439626"/>
            <a:ext cx="2574662" cy="1982489"/>
          </a:xfrm>
          <a:prstGeom prst="rect">
            <a:avLst/>
          </a:prstGeom>
        </p:spPr>
      </p:pic>
    </p:spTree>
    <p:extLst>
      <p:ext uri="{BB962C8B-B14F-4D97-AF65-F5344CB8AC3E}">
        <p14:creationId xmlns:p14="http://schemas.microsoft.com/office/powerpoint/2010/main" val="34038688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C7C78542-2765-FBDB-1D92-8EFBBC0C919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954EF2-07FA-8964-265B-221838CDB9F6}"/>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Careful Recovery</a:t>
            </a:r>
          </a:p>
        </p:txBody>
      </p:sp>
      <p:pic>
        <p:nvPicPr>
          <p:cNvPr id="5" name="Picture 4">
            <a:extLst>
              <a:ext uri="{FF2B5EF4-FFF2-40B4-BE49-F238E27FC236}">
                <a16:creationId xmlns:a16="http://schemas.microsoft.com/office/drawing/2014/main" id="{5EB49002-9D78-720C-63F1-21C2465143CE}"/>
              </a:ext>
            </a:extLst>
          </p:cNvPr>
          <p:cNvPicPr>
            <a:picLocks noChangeAspect="1"/>
          </p:cNvPicPr>
          <p:nvPr/>
        </p:nvPicPr>
        <p:blipFill>
          <a:blip r:embed="rId2"/>
          <a:stretch>
            <a:fillRect/>
          </a:stretch>
        </p:blipFill>
        <p:spPr>
          <a:xfrm>
            <a:off x="5751720" y="2371631"/>
            <a:ext cx="2574662" cy="2117659"/>
          </a:xfrm>
          <a:prstGeom prst="rect">
            <a:avLst/>
          </a:prstGeom>
        </p:spPr>
      </p:pic>
      <p:pic>
        <p:nvPicPr>
          <p:cNvPr id="3" name="Picture 2">
            <a:extLst>
              <a:ext uri="{FF2B5EF4-FFF2-40B4-BE49-F238E27FC236}">
                <a16:creationId xmlns:a16="http://schemas.microsoft.com/office/drawing/2014/main" id="{C3132EDD-0428-F17E-7107-D0E36CC89F0A}"/>
              </a:ext>
            </a:extLst>
          </p:cNvPr>
          <p:cNvPicPr>
            <a:picLocks noChangeAspect="1"/>
          </p:cNvPicPr>
          <p:nvPr/>
        </p:nvPicPr>
        <p:blipFill>
          <a:blip r:embed="rId3"/>
          <a:stretch>
            <a:fillRect/>
          </a:stretch>
        </p:blipFill>
        <p:spPr>
          <a:xfrm>
            <a:off x="8490108" y="2314111"/>
            <a:ext cx="2574662" cy="2233518"/>
          </a:xfrm>
          <a:prstGeom prst="rect">
            <a:avLst/>
          </a:prstGeom>
        </p:spPr>
      </p:pic>
    </p:spTree>
    <p:extLst>
      <p:ext uri="{BB962C8B-B14F-4D97-AF65-F5344CB8AC3E}">
        <p14:creationId xmlns:p14="http://schemas.microsoft.com/office/powerpoint/2010/main" val="33414231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71E7062D-453E-EB80-4EB4-3C5872FDF2AB}"/>
              </a:ext>
            </a:extLst>
          </p:cNvPr>
          <p:cNvPicPr>
            <a:picLocks noChangeAspect="1"/>
          </p:cNvPicPr>
          <p:nvPr/>
        </p:nvPicPr>
        <p:blipFill>
          <a:blip r:embed="rId2"/>
          <a:stretch>
            <a:fillRect/>
          </a:stretch>
        </p:blipFill>
        <p:spPr>
          <a:xfrm>
            <a:off x="4652761" y="3586053"/>
            <a:ext cx="2886478" cy="1390844"/>
          </a:xfrm>
          <a:prstGeom prst="rect">
            <a:avLst/>
          </a:prstGeom>
        </p:spPr>
      </p:pic>
      <p:pic>
        <p:nvPicPr>
          <p:cNvPr id="39" name="Picture 38">
            <a:extLst>
              <a:ext uri="{FF2B5EF4-FFF2-40B4-BE49-F238E27FC236}">
                <a16:creationId xmlns:a16="http://schemas.microsoft.com/office/drawing/2014/main" id="{C9037E1F-54E4-AB68-F6C5-A233812D8E14}"/>
              </a:ext>
            </a:extLst>
          </p:cNvPr>
          <p:cNvPicPr>
            <a:picLocks noChangeAspect="1"/>
          </p:cNvPicPr>
          <p:nvPr/>
        </p:nvPicPr>
        <p:blipFill>
          <a:blip r:embed="rId3"/>
          <a:stretch>
            <a:fillRect/>
          </a:stretch>
        </p:blipFill>
        <p:spPr>
          <a:xfrm>
            <a:off x="2799919" y="271366"/>
            <a:ext cx="7763306" cy="1843184"/>
          </a:xfrm>
          <a:prstGeom prst="rect">
            <a:avLst/>
          </a:prstGeom>
        </p:spPr>
      </p:pic>
    </p:spTree>
    <p:extLst>
      <p:ext uri="{BB962C8B-B14F-4D97-AF65-F5344CB8AC3E}">
        <p14:creationId xmlns:p14="http://schemas.microsoft.com/office/powerpoint/2010/main" val="3762857067"/>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3460</TotalTime>
  <Words>432</Words>
  <Application>Microsoft Office PowerPoint</Application>
  <PresentationFormat>Widescreen</PresentationFormat>
  <Paragraphs>44</Paragraphs>
  <Slides>11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Aptos</vt:lpstr>
      <vt:lpstr>Arial</vt:lpstr>
      <vt:lpstr>Century Gothic</vt:lpstr>
      <vt:lpstr>Times New Roman</vt:lpstr>
      <vt:lpstr>Wingdings 3</vt:lpstr>
      <vt:lpstr>Wisp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Tyler Technologies,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Kolavennu, Ravi</dc:creator>
  <cp:lastModifiedBy>Kolavennu, Ravi</cp:lastModifiedBy>
  <cp:revision>26</cp:revision>
  <cp:lastPrinted>2025-12-01T03:09:12Z</cp:lastPrinted>
  <dcterms:created xsi:type="dcterms:W3CDTF">2025-11-29T19:38:57Z</dcterms:created>
  <dcterms:modified xsi:type="dcterms:W3CDTF">2025-12-28T22:20:30Z</dcterms:modified>
</cp:coreProperties>
</file>