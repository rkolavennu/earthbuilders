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2"/>
  </p:notesMasterIdLst>
  <p:sldIdLst>
    <p:sldId id="268" r:id="rId2"/>
    <p:sldId id="281" r:id="rId3"/>
    <p:sldId id="282" r:id="rId4"/>
    <p:sldId id="272" r:id="rId5"/>
    <p:sldId id="259" r:id="rId6"/>
    <p:sldId id="261" r:id="rId7"/>
    <p:sldId id="264" r:id="rId8"/>
    <p:sldId id="265" r:id="rId9"/>
    <p:sldId id="267" r:id="rId10"/>
    <p:sldId id="270" r:id="rId11"/>
  </p:sldIdLst>
  <p:sldSz cx="12192000" cy="6858000"/>
  <p:notesSz cx="7102475" cy="9037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26"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524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52438"/>
          </a:xfrm>
          <a:prstGeom prst="rect">
            <a:avLst/>
          </a:prstGeom>
        </p:spPr>
        <p:txBody>
          <a:bodyPr vert="horz" lIns="91440" tIns="45720" rIns="91440" bIns="45720" rtlCol="0"/>
          <a:lstStyle>
            <a:lvl1pPr algn="r">
              <a:defRPr sz="1200"/>
            </a:lvl1pPr>
          </a:lstStyle>
          <a:p>
            <a:fld id="{72E1B120-E1B5-4476-BA92-D20A2A21079B}" type="datetimeFigureOut">
              <a:rPr lang="en-US" smtClean="0"/>
              <a:t>12/27/2025</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349750"/>
            <a:ext cx="5683250" cy="35575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585200"/>
            <a:ext cx="3078163" cy="4524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585200"/>
            <a:ext cx="3078163" cy="452438"/>
          </a:xfrm>
          <a:prstGeom prst="rect">
            <a:avLst/>
          </a:prstGeom>
        </p:spPr>
        <p:txBody>
          <a:bodyPr vert="horz" lIns="91440" tIns="45720" rIns="91440" bIns="45720" rtlCol="0" anchor="b"/>
          <a:lstStyle>
            <a:lvl1pPr algn="r">
              <a:defRPr sz="1200"/>
            </a:lvl1pPr>
          </a:lstStyle>
          <a:p>
            <a:fld id="{1DAAF7F5-5705-41B7-8C29-A9CFA32D44BB}" type="slidenum">
              <a:rPr lang="en-US" smtClean="0"/>
              <a:t>‹#›</a:t>
            </a:fld>
            <a:endParaRPr lang="en-US"/>
          </a:p>
        </p:txBody>
      </p:sp>
    </p:spTree>
    <p:extLst>
      <p:ext uri="{BB962C8B-B14F-4D97-AF65-F5344CB8AC3E}">
        <p14:creationId xmlns:p14="http://schemas.microsoft.com/office/powerpoint/2010/main" val="192559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3696551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1634562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26401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4122554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708703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966208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195678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4001578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3285618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87277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15A9337-9632-4024-8693-4508CB48E3B1}"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599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3888398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5A9337-9632-4024-8693-4508CB48E3B1}"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33920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32964242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2212776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9BBC5F-5CDA-4125-9BC9-B7DDB6C51A18}" type="datetimeFigureOut">
              <a:rPr lang="en-US" smtClean="0"/>
              <a:t>12/27/2025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15A9337-9632-4024-8693-4508CB48E3B1}" type="slidenum">
              <a:rPr lang="en-US" smtClean="0"/>
              <a:t>‹#›</a:t>
            </a:fld>
            <a:endParaRPr lang="en-US" dirty="0"/>
          </a:p>
        </p:txBody>
      </p:sp>
    </p:spTree>
    <p:extLst>
      <p:ext uri="{BB962C8B-B14F-4D97-AF65-F5344CB8AC3E}">
        <p14:creationId xmlns:p14="http://schemas.microsoft.com/office/powerpoint/2010/main" val="2969204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A9BBC5F-5CDA-4125-9BC9-B7DDB6C51A18}" type="datetimeFigureOut">
              <a:rPr lang="en-US" smtClean="0"/>
              <a:t>12/27/2025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15A9337-9632-4024-8693-4508CB48E3B1}" type="slidenum">
              <a:rPr lang="en-US" smtClean="0"/>
              <a:t>‹#›</a:t>
            </a:fld>
            <a:endParaRPr lang="en-US" dirty="0"/>
          </a:p>
        </p:txBody>
      </p:sp>
    </p:spTree>
    <p:extLst>
      <p:ext uri="{BB962C8B-B14F-4D97-AF65-F5344CB8AC3E}">
        <p14:creationId xmlns:p14="http://schemas.microsoft.com/office/powerpoint/2010/main" val="152657836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video game&#10;&#10;AI-generated content may be incorrect.">
            <a:extLst>
              <a:ext uri="{FF2B5EF4-FFF2-40B4-BE49-F238E27FC236}">
                <a16:creationId xmlns:a16="http://schemas.microsoft.com/office/drawing/2014/main" id="{7C3E4C8C-EA85-75B3-8593-93A68426E317}"/>
              </a:ext>
            </a:extLst>
          </p:cNvPr>
          <p:cNvPicPr>
            <a:picLocks noChangeAspect="1"/>
          </p:cNvPicPr>
          <p:nvPr/>
        </p:nvPicPr>
        <p:blipFill>
          <a:blip r:embed="rId2"/>
          <a:srcRect l="7542" r="4458" b="-1"/>
          <a:stretch>
            <a:fillRect/>
          </a:stretch>
        </p:blipFill>
        <p:spPr>
          <a:xfrm>
            <a:off x="880353" y="0"/>
            <a:ext cx="7816175" cy="5201376"/>
          </a:xfrm>
          <a:prstGeom prst="rect">
            <a:avLst/>
          </a:prstGeom>
        </p:spPr>
      </p:pic>
      <p:pic>
        <p:nvPicPr>
          <p:cNvPr id="6" name="Picture 5">
            <a:extLst>
              <a:ext uri="{FF2B5EF4-FFF2-40B4-BE49-F238E27FC236}">
                <a16:creationId xmlns:a16="http://schemas.microsoft.com/office/drawing/2014/main" id="{B704BA08-DD47-5030-6F90-38A0E400F53A}"/>
              </a:ext>
            </a:extLst>
          </p:cNvPr>
          <p:cNvPicPr>
            <a:picLocks noChangeAspect="1"/>
          </p:cNvPicPr>
          <p:nvPr/>
        </p:nvPicPr>
        <p:blipFill>
          <a:blip r:embed="rId3"/>
          <a:stretch>
            <a:fillRect/>
          </a:stretch>
        </p:blipFill>
        <p:spPr>
          <a:xfrm>
            <a:off x="8295731" y="0"/>
            <a:ext cx="3896269" cy="5201376"/>
          </a:xfrm>
          <a:prstGeom prst="rect">
            <a:avLst/>
          </a:prstGeom>
        </p:spPr>
      </p:pic>
      <p:sp>
        <p:nvSpPr>
          <p:cNvPr id="4" name="TextBox 3">
            <a:extLst>
              <a:ext uri="{FF2B5EF4-FFF2-40B4-BE49-F238E27FC236}">
                <a16:creationId xmlns:a16="http://schemas.microsoft.com/office/drawing/2014/main" id="{BDC2D7EF-D4F4-916E-2250-4B9B59C8285F}"/>
              </a:ext>
            </a:extLst>
          </p:cNvPr>
          <p:cNvSpPr txBox="1"/>
          <p:nvPr/>
        </p:nvSpPr>
        <p:spPr>
          <a:xfrm>
            <a:off x="3048000" y="3246792"/>
            <a:ext cx="6096000" cy="369332"/>
          </a:xfrm>
          <a:prstGeom prst="rect">
            <a:avLst/>
          </a:prstGeom>
          <a:noFill/>
        </p:spPr>
        <p:txBody>
          <a:bodyPr wrap="square">
            <a:spAutoFit/>
          </a:bodyPr>
          <a:lstStyle/>
          <a:p>
            <a:r>
              <a:rPr lang="en-US" dirty="0"/>
              <a:t>Our Mission Robot</a:t>
            </a:r>
          </a:p>
        </p:txBody>
      </p:sp>
      <p:sp>
        <p:nvSpPr>
          <p:cNvPr id="7" name="TextBox 6">
            <a:extLst>
              <a:ext uri="{FF2B5EF4-FFF2-40B4-BE49-F238E27FC236}">
                <a16:creationId xmlns:a16="http://schemas.microsoft.com/office/drawing/2014/main" id="{BC12AB33-DA41-240B-6835-A67ED2204F73}"/>
              </a:ext>
            </a:extLst>
          </p:cNvPr>
          <p:cNvSpPr txBox="1"/>
          <p:nvPr/>
        </p:nvSpPr>
        <p:spPr>
          <a:xfrm>
            <a:off x="3048000" y="3246792"/>
            <a:ext cx="6096000" cy="369332"/>
          </a:xfrm>
          <a:prstGeom prst="rect">
            <a:avLst/>
          </a:prstGeom>
          <a:noFill/>
        </p:spPr>
        <p:txBody>
          <a:bodyPr wrap="square">
            <a:spAutoFit/>
          </a:bodyPr>
          <a:lstStyle/>
          <a:p>
            <a:r>
              <a:rPr lang="en-US" dirty="0"/>
              <a:t>Our Mission Robot</a:t>
            </a:r>
          </a:p>
        </p:txBody>
      </p:sp>
    </p:spTree>
    <p:extLst>
      <p:ext uri="{BB962C8B-B14F-4D97-AF65-F5344CB8AC3E}">
        <p14:creationId xmlns:p14="http://schemas.microsoft.com/office/powerpoint/2010/main" val="4158124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C290EEB-E47F-2C8F-B48D-47A89B95CF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53327A-01AB-EF2D-C428-F612BEA5071E}"/>
              </a:ext>
            </a:extLst>
          </p:cNvPr>
          <p:cNvSpPr txBox="1"/>
          <p:nvPr/>
        </p:nvSpPr>
        <p:spPr>
          <a:xfrm>
            <a:off x="1069848" y="493776"/>
            <a:ext cx="10543032" cy="523220"/>
          </a:xfrm>
          <a:prstGeom prst="rect">
            <a:avLst/>
          </a:prstGeom>
          <a:noFill/>
        </p:spPr>
        <p:txBody>
          <a:bodyPr wrap="square" rtlCol="0">
            <a:spAutoFit/>
          </a:bodyPr>
          <a:lstStyle/>
          <a:p>
            <a:pPr algn="ctr"/>
            <a:r>
              <a:rPr lang="en-US" sz="2800" b="1" dirty="0">
                <a:solidFill>
                  <a:srgbClr val="7030A0"/>
                </a:solidFill>
                <a:latin typeface="Times New Roman" panose="02020603050405020304" pitchFamily="18" charset="0"/>
                <a:cs typeface="Times New Roman" panose="02020603050405020304" pitchFamily="18" charset="0"/>
              </a:rPr>
              <a:t>Our Mission Robot</a:t>
            </a:r>
          </a:p>
        </p:txBody>
      </p:sp>
      <p:sp>
        <p:nvSpPr>
          <p:cNvPr id="3" name="TextBox 2">
            <a:extLst>
              <a:ext uri="{FF2B5EF4-FFF2-40B4-BE49-F238E27FC236}">
                <a16:creationId xmlns:a16="http://schemas.microsoft.com/office/drawing/2014/main" id="{1BC6CAD5-732D-E81E-6B55-995029050972}"/>
              </a:ext>
            </a:extLst>
          </p:cNvPr>
          <p:cNvSpPr txBox="1"/>
          <p:nvPr/>
        </p:nvSpPr>
        <p:spPr>
          <a:xfrm>
            <a:off x="539496" y="1307592"/>
            <a:ext cx="11073384" cy="5078313"/>
          </a:xfrm>
          <a:prstGeom prst="rect">
            <a:avLst/>
          </a:prstGeom>
          <a:noFill/>
        </p:spPr>
        <p:txBody>
          <a:bodyPr wrap="square" rtlCol="0">
            <a:spAutoFit/>
          </a:bodyPr>
          <a:lstStyle/>
          <a:p>
            <a:r>
              <a:rPr lang="en-US" dirty="0"/>
              <a:t>Robot pic with arrows to key parts: chassis, left arm, right arm, and front roller/wheels.</a:t>
            </a:r>
          </a:p>
          <a:p>
            <a:endParaRPr lang="en-US" dirty="0"/>
          </a:p>
          <a:p>
            <a:endParaRPr lang="en-US" dirty="0"/>
          </a:p>
          <a:p>
            <a:endParaRPr lang="en-US" dirty="0"/>
          </a:p>
          <a:p>
            <a:r>
              <a:rPr lang="en-US" dirty="0"/>
              <a:t>One kid explains in 2–3 sentences: what problem it solves (which missions), </a:t>
            </a:r>
          </a:p>
          <a:p>
            <a:endParaRPr lang="en-US" dirty="0"/>
          </a:p>
          <a:p>
            <a:endParaRPr lang="en-US" dirty="0"/>
          </a:p>
          <a:p>
            <a:endParaRPr lang="en-US" dirty="0"/>
          </a:p>
          <a:p>
            <a:r>
              <a:rPr lang="en-US" dirty="0"/>
              <a:t>why it is tall (to reach high elements), and </a:t>
            </a:r>
          </a:p>
          <a:p>
            <a:endParaRPr lang="en-US" dirty="0"/>
          </a:p>
          <a:p>
            <a:endParaRPr lang="en-US" dirty="0"/>
          </a:p>
          <a:p>
            <a:endParaRPr lang="en-US" dirty="0"/>
          </a:p>
          <a:p>
            <a:r>
              <a:rPr lang="en-US" dirty="0"/>
              <a:t>why it is narrow (to fit between models).</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22170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2598A81-F42F-8539-CD17-7E30BA8710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A2095B8-6B24-EBDC-7A9D-235658F00D2A}"/>
              </a:ext>
            </a:extLst>
          </p:cNvPr>
          <p:cNvSpPr txBox="1"/>
          <p:nvPr/>
        </p:nvSpPr>
        <p:spPr>
          <a:xfrm>
            <a:off x="1069848" y="236601"/>
            <a:ext cx="10543032" cy="523220"/>
          </a:xfrm>
          <a:prstGeom prst="rect">
            <a:avLst/>
          </a:prstGeom>
          <a:noFill/>
        </p:spPr>
        <p:txBody>
          <a:bodyPr wrap="square" rtlCol="0">
            <a:spAutoFit/>
          </a:bodyPr>
          <a:lstStyle/>
          <a:p>
            <a:pPr algn="ctr"/>
            <a:r>
              <a:rPr lang="en-US" sz="2800" b="1" dirty="0">
                <a:solidFill>
                  <a:srgbClr val="7030A0"/>
                </a:solidFill>
                <a:latin typeface="Times New Roman" panose="02020603050405020304" pitchFamily="18" charset="0"/>
                <a:cs typeface="Times New Roman" panose="02020603050405020304" pitchFamily="18" charset="0"/>
              </a:rPr>
              <a:t>Twin Arms, Different Jobs</a:t>
            </a:r>
          </a:p>
        </p:txBody>
      </p:sp>
      <p:sp>
        <p:nvSpPr>
          <p:cNvPr id="3" name="TextBox 2">
            <a:extLst>
              <a:ext uri="{FF2B5EF4-FFF2-40B4-BE49-F238E27FC236}">
                <a16:creationId xmlns:a16="http://schemas.microsoft.com/office/drawing/2014/main" id="{9AA5DF34-5AFA-E6D7-9D28-44443088D977}"/>
              </a:ext>
            </a:extLst>
          </p:cNvPr>
          <p:cNvSpPr txBox="1"/>
          <p:nvPr/>
        </p:nvSpPr>
        <p:spPr>
          <a:xfrm>
            <a:off x="314326" y="859918"/>
            <a:ext cx="11525249" cy="5909310"/>
          </a:xfrm>
          <a:prstGeom prst="rect">
            <a:avLst/>
          </a:prstGeom>
          <a:noFill/>
        </p:spPr>
        <p:txBody>
          <a:bodyPr wrap="square" rtlCol="0">
            <a:spAutoFit/>
          </a:bodyPr>
          <a:lstStyle/>
          <a:p>
            <a:pPr marL="342900" indent="-342900">
              <a:buAutoNum type="arabicPeriod"/>
            </a:pPr>
            <a:r>
              <a:rPr lang="en-US" dirty="0"/>
              <a:t>Left arm is being used to solve missions from right home, as the design suits to the missions to be solved.</a:t>
            </a:r>
          </a:p>
          <a:p>
            <a:pPr marL="342900" indent="-342900">
              <a:buAutoNum type="arabicPeriod"/>
            </a:pPr>
            <a:endParaRPr lang="en-US" dirty="0"/>
          </a:p>
          <a:p>
            <a:pPr marL="342900" indent="-342900">
              <a:buAutoNum type="arabicPeriod"/>
            </a:pPr>
            <a:r>
              <a:rPr lang="en-US" dirty="0"/>
              <a:t>Right arm has two different attachments for two different mission solutions and left arm uses same attachment to solve multiple missions. It was decided based purely on nature of the missions.</a:t>
            </a:r>
          </a:p>
          <a:p>
            <a:pPr marL="342900" indent="-342900">
              <a:buAutoNum type="arabicPeriod"/>
            </a:pPr>
            <a:endParaRPr lang="en-US" dirty="0"/>
          </a:p>
          <a:p>
            <a:pPr marL="342900" indent="-342900">
              <a:buAutoNum type="arabicPeriod"/>
            </a:pPr>
            <a:r>
              <a:rPr lang="en-US" dirty="0"/>
              <a:t>These two arms are of basic design which is easy to repair and contains parts that are easy to replace/rebuild.</a:t>
            </a:r>
          </a:p>
          <a:p>
            <a:pPr marL="342900" indent="-342900">
              <a:buAutoNum type="arabicPeriod"/>
            </a:pPr>
            <a:endParaRPr lang="en-US" dirty="0"/>
          </a:p>
          <a:p>
            <a:pPr marL="342900" indent="-342900">
              <a:buAutoNum type="arabicPeriod"/>
            </a:pPr>
            <a:r>
              <a:rPr lang="en-US" dirty="0"/>
              <a:t>One arm is used to grab the model with two prong attachment and also to lift the statue after replacing with a wing attachment.</a:t>
            </a:r>
          </a:p>
          <a:p>
            <a:pPr marL="342900" indent="-342900">
              <a:buAutoNum type="arabicPeriod"/>
            </a:pPr>
            <a:endParaRPr lang="en-US" dirty="0"/>
          </a:p>
          <a:p>
            <a:pPr marL="342900" indent="-342900">
              <a:buAutoNum type="arabicPeriod"/>
            </a:pPr>
            <a:r>
              <a:rPr lang="en-US" dirty="0"/>
              <a:t>Second arm is used to lift, drop and pull which needed to have a fork type of attachment.</a:t>
            </a:r>
          </a:p>
          <a:p>
            <a:pPr marL="342900" indent="-342900">
              <a:buAutoNum type="arabicPeriod"/>
            </a:pPr>
            <a:endParaRPr lang="en-US" dirty="0"/>
          </a:p>
          <a:p>
            <a:pPr marL="342900" indent="-342900">
              <a:buAutoNum type="arabicPeriod"/>
            </a:pPr>
            <a:r>
              <a:rPr lang="en-US" dirty="0"/>
              <a:t>The reason for its tall arms to reach far away models which saves time, since they are kind of fixed, we make sure the height is within allowed 12 inches.</a:t>
            </a:r>
          </a:p>
          <a:p>
            <a:endParaRPr lang="en-US" dirty="0"/>
          </a:p>
          <a:p>
            <a:r>
              <a:rPr lang="en-US" dirty="0"/>
              <a:t>7.  Box body is to have more stability while making turns, lifting  and to easily move between missions.</a:t>
            </a:r>
          </a:p>
          <a:p>
            <a:endParaRPr lang="en-US" dirty="0"/>
          </a:p>
          <a:p>
            <a:endParaRPr lang="en-US" dirty="0"/>
          </a:p>
          <a:p>
            <a:endParaRPr lang="en-US" dirty="0"/>
          </a:p>
        </p:txBody>
      </p:sp>
    </p:spTree>
    <p:extLst>
      <p:ext uri="{BB962C8B-B14F-4D97-AF65-F5344CB8AC3E}">
        <p14:creationId xmlns:p14="http://schemas.microsoft.com/office/powerpoint/2010/main" val="3754064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C0EF3AE-413A-0B48-991A-4F8FD726D8B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2BF194-6854-AD7F-DC61-1E695A4C8C7B}"/>
              </a:ext>
            </a:extLst>
          </p:cNvPr>
          <p:cNvPicPr>
            <a:picLocks noChangeAspect="1"/>
          </p:cNvPicPr>
          <p:nvPr/>
        </p:nvPicPr>
        <p:blipFill>
          <a:blip r:embed="rId2"/>
          <a:stretch>
            <a:fillRect/>
          </a:stretch>
        </p:blipFill>
        <p:spPr>
          <a:xfrm>
            <a:off x="7577848" y="-2755"/>
            <a:ext cx="4589430" cy="6856008"/>
          </a:xfrm>
          <a:prstGeom prst="rect">
            <a:avLst/>
          </a:prstGeom>
        </p:spPr>
      </p:pic>
      <p:pic>
        <p:nvPicPr>
          <p:cNvPr id="3" name="Picture 2">
            <a:extLst>
              <a:ext uri="{FF2B5EF4-FFF2-40B4-BE49-F238E27FC236}">
                <a16:creationId xmlns:a16="http://schemas.microsoft.com/office/drawing/2014/main" id="{D73AAB37-8055-7C44-586F-8F6ED9682CD7}"/>
              </a:ext>
            </a:extLst>
          </p:cNvPr>
          <p:cNvPicPr>
            <a:picLocks noChangeAspect="1"/>
          </p:cNvPicPr>
          <p:nvPr/>
        </p:nvPicPr>
        <p:blipFill>
          <a:blip r:embed="rId3"/>
          <a:srcRect l="14672" r="14730" b="2"/>
          <a:stretch>
            <a:fillRect/>
          </a:stretch>
        </p:blipFill>
        <p:spPr>
          <a:xfrm>
            <a:off x="1137248" y="235749"/>
            <a:ext cx="2709729" cy="2752231"/>
          </a:xfrm>
          <a:prstGeom prst="rect">
            <a:avLst/>
          </a:prstGeom>
        </p:spPr>
      </p:pic>
      <p:pic>
        <p:nvPicPr>
          <p:cNvPr id="5" name="Picture 4">
            <a:extLst>
              <a:ext uri="{FF2B5EF4-FFF2-40B4-BE49-F238E27FC236}">
                <a16:creationId xmlns:a16="http://schemas.microsoft.com/office/drawing/2014/main" id="{156BB0FA-54ED-36CA-E882-645847045A27}"/>
              </a:ext>
            </a:extLst>
          </p:cNvPr>
          <p:cNvPicPr>
            <a:picLocks noChangeAspect="1"/>
          </p:cNvPicPr>
          <p:nvPr/>
        </p:nvPicPr>
        <p:blipFill>
          <a:blip r:embed="rId4"/>
          <a:stretch>
            <a:fillRect/>
          </a:stretch>
        </p:blipFill>
        <p:spPr>
          <a:xfrm>
            <a:off x="1538965" y="2684515"/>
            <a:ext cx="1639282" cy="2539238"/>
          </a:xfrm>
          <a:prstGeom prst="rect">
            <a:avLst/>
          </a:prstGeom>
        </p:spPr>
      </p:pic>
      <p:pic>
        <p:nvPicPr>
          <p:cNvPr id="7" name="Picture 6">
            <a:extLst>
              <a:ext uri="{FF2B5EF4-FFF2-40B4-BE49-F238E27FC236}">
                <a16:creationId xmlns:a16="http://schemas.microsoft.com/office/drawing/2014/main" id="{EB074582-F5BE-BCD3-AE03-A95CBB4107C3}"/>
              </a:ext>
            </a:extLst>
          </p:cNvPr>
          <p:cNvPicPr>
            <a:picLocks noChangeAspect="1"/>
          </p:cNvPicPr>
          <p:nvPr/>
        </p:nvPicPr>
        <p:blipFill>
          <a:blip r:embed="rId5"/>
          <a:srcRect t="4719" r="-5" b="4977"/>
          <a:stretch>
            <a:fillRect/>
          </a:stretch>
        </p:blipFill>
        <p:spPr>
          <a:xfrm>
            <a:off x="4013450" y="1472941"/>
            <a:ext cx="2149946" cy="2174616"/>
          </a:xfrm>
          <a:prstGeom prst="rect">
            <a:avLst/>
          </a:prstGeom>
        </p:spPr>
      </p:pic>
      <p:sp>
        <p:nvSpPr>
          <p:cNvPr id="8" name="TextBox 7">
            <a:extLst>
              <a:ext uri="{FF2B5EF4-FFF2-40B4-BE49-F238E27FC236}">
                <a16:creationId xmlns:a16="http://schemas.microsoft.com/office/drawing/2014/main" id="{7C3C4F26-28B2-092B-F12C-E1A1E089D91C}"/>
              </a:ext>
            </a:extLst>
          </p:cNvPr>
          <p:cNvSpPr txBox="1"/>
          <p:nvPr/>
        </p:nvSpPr>
        <p:spPr>
          <a:xfrm>
            <a:off x="151392" y="5385059"/>
            <a:ext cx="7724116" cy="1162423"/>
          </a:xfrm>
          <a:prstGeom prst="rect">
            <a:avLst/>
          </a:prstGeom>
        </p:spPr>
        <p:txBody>
          <a:bodyPr vert="horz" lIns="91440" tIns="45720" rIns="91440" bIns="45720" rtlCol="0" anchor="b">
            <a:normAutofit fontScale="77500" lnSpcReduction="20000"/>
          </a:bodyPr>
          <a:lstStyle/>
          <a:p>
            <a:pPr>
              <a:spcBef>
                <a:spcPct val="0"/>
              </a:spcBef>
              <a:spcAft>
                <a:spcPts val="600"/>
              </a:spcAft>
            </a:pPr>
            <a:r>
              <a:rPr lang="en-US" sz="5400" b="1" i="1" dirty="0">
                <a:solidFill>
                  <a:schemeClr val="tx1">
                    <a:lumMod val="85000"/>
                    <a:lumOff val="15000"/>
                  </a:schemeClr>
                </a:solidFill>
                <a:latin typeface="+mj-lt"/>
                <a:ea typeface="+mj-ea"/>
                <a:cs typeface="+mj-cs"/>
              </a:rPr>
              <a:t>Forge, Heavy lifting &amp; who lived here?</a:t>
            </a:r>
          </a:p>
        </p:txBody>
      </p:sp>
    </p:spTree>
    <p:extLst>
      <p:ext uri="{BB962C8B-B14F-4D97-AF65-F5344CB8AC3E}">
        <p14:creationId xmlns:p14="http://schemas.microsoft.com/office/powerpoint/2010/main" val="951130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0EBBCE-61CE-7340-C875-9255BE1A86AF}"/>
              </a:ext>
            </a:extLst>
          </p:cNvPr>
          <p:cNvPicPr>
            <a:picLocks noChangeAspect="1"/>
          </p:cNvPicPr>
          <p:nvPr/>
        </p:nvPicPr>
        <p:blipFill>
          <a:blip r:embed="rId2"/>
          <a:stretch>
            <a:fillRect/>
          </a:stretch>
        </p:blipFill>
        <p:spPr>
          <a:xfrm>
            <a:off x="4874489" y="3000374"/>
            <a:ext cx="3488806" cy="3369441"/>
          </a:xfrm>
          <a:prstGeom prst="rect">
            <a:avLst/>
          </a:prstGeom>
        </p:spPr>
      </p:pic>
      <p:pic>
        <p:nvPicPr>
          <p:cNvPr id="4" name="Picture 3">
            <a:extLst>
              <a:ext uri="{FF2B5EF4-FFF2-40B4-BE49-F238E27FC236}">
                <a16:creationId xmlns:a16="http://schemas.microsoft.com/office/drawing/2014/main" id="{1B4D0921-6D89-E8DC-AD0B-0BFD72CE1960}"/>
              </a:ext>
            </a:extLst>
          </p:cNvPr>
          <p:cNvPicPr>
            <a:picLocks noChangeAspect="1"/>
          </p:cNvPicPr>
          <p:nvPr/>
        </p:nvPicPr>
        <p:blipFill>
          <a:blip r:embed="rId3"/>
          <a:stretch>
            <a:fillRect/>
          </a:stretch>
        </p:blipFill>
        <p:spPr>
          <a:xfrm>
            <a:off x="584590" y="3297677"/>
            <a:ext cx="3488807" cy="3000374"/>
          </a:xfrm>
          <a:prstGeom prst="rect">
            <a:avLst/>
          </a:prstGeom>
        </p:spPr>
      </p:pic>
      <p:pic>
        <p:nvPicPr>
          <p:cNvPr id="9" name="Picture 8">
            <a:extLst>
              <a:ext uri="{FF2B5EF4-FFF2-40B4-BE49-F238E27FC236}">
                <a16:creationId xmlns:a16="http://schemas.microsoft.com/office/drawing/2014/main" id="{3FC8F2F8-6699-842B-4961-1164CFBF5E84}"/>
              </a:ext>
            </a:extLst>
          </p:cNvPr>
          <p:cNvPicPr>
            <a:picLocks noChangeAspect="1"/>
          </p:cNvPicPr>
          <p:nvPr/>
        </p:nvPicPr>
        <p:blipFill>
          <a:blip r:embed="rId4"/>
          <a:stretch>
            <a:fillRect/>
          </a:stretch>
        </p:blipFill>
        <p:spPr>
          <a:xfrm>
            <a:off x="8610599" y="0"/>
            <a:ext cx="3648075" cy="6858000"/>
          </a:xfrm>
          <a:prstGeom prst="rect">
            <a:avLst/>
          </a:prstGeom>
        </p:spPr>
      </p:pic>
      <p:sp>
        <p:nvSpPr>
          <p:cNvPr id="12" name="TextBox 11">
            <a:extLst>
              <a:ext uri="{FF2B5EF4-FFF2-40B4-BE49-F238E27FC236}">
                <a16:creationId xmlns:a16="http://schemas.microsoft.com/office/drawing/2014/main" id="{E230F86C-F787-2F30-A28B-635E79C5EB45}"/>
              </a:ext>
            </a:extLst>
          </p:cNvPr>
          <p:cNvSpPr txBox="1"/>
          <p:nvPr/>
        </p:nvSpPr>
        <p:spPr>
          <a:xfrm>
            <a:off x="584590" y="559949"/>
            <a:ext cx="7724116" cy="1162423"/>
          </a:xfrm>
          <a:prstGeom prst="rect">
            <a:avLst/>
          </a:prstGeom>
        </p:spPr>
        <p:txBody>
          <a:bodyPr vert="horz" lIns="91440" tIns="45720" rIns="91440" bIns="45720" rtlCol="0" anchor="b">
            <a:normAutofit fontScale="77500" lnSpcReduction="20000"/>
          </a:bodyPr>
          <a:lstStyle/>
          <a:p>
            <a:pPr>
              <a:spcBef>
                <a:spcPct val="0"/>
              </a:spcBef>
              <a:spcAft>
                <a:spcPts val="600"/>
              </a:spcAft>
            </a:pPr>
            <a:r>
              <a:rPr lang="en-US" sz="5400" b="1" i="1" dirty="0">
                <a:solidFill>
                  <a:schemeClr val="tx1">
                    <a:lumMod val="85000"/>
                    <a:lumOff val="15000"/>
                  </a:schemeClr>
                </a:solidFill>
                <a:latin typeface="+mj-lt"/>
                <a:ea typeface="+mj-ea"/>
                <a:cs typeface="+mj-cs"/>
              </a:rPr>
              <a:t>Tip the Scale &amp; what’s on Sale?</a:t>
            </a:r>
          </a:p>
        </p:txBody>
      </p:sp>
      <p:pic>
        <p:nvPicPr>
          <p:cNvPr id="13" name="Picture 12">
            <a:extLst>
              <a:ext uri="{FF2B5EF4-FFF2-40B4-BE49-F238E27FC236}">
                <a16:creationId xmlns:a16="http://schemas.microsoft.com/office/drawing/2014/main" id="{F9029D04-AF77-80BD-70E7-A8028E6E65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7665" y="2296691"/>
            <a:ext cx="7267574" cy="4496660"/>
          </a:xfrm>
          <a:prstGeom prst="rect">
            <a:avLst/>
          </a:prstGeom>
        </p:spPr>
      </p:pic>
    </p:spTree>
    <p:extLst>
      <p:ext uri="{BB962C8B-B14F-4D97-AF65-F5344CB8AC3E}">
        <p14:creationId xmlns:p14="http://schemas.microsoft.com/office/powerpoint/2010/main" val="88246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9E9F7EFB-4BDE-0904-27B9-9FF1061D99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05E814-7601-D118-4BFC-28B6D2163FA9}"/>
              </a:ext>
            </a:extLst>
          </p:cNvPr>
          <p:cNvSpPr txBox="1"/>
          <p:nvPr/>
        </p:nvSpPr>
        <p:spPr>
          <a:xfrm>
            <a:off x="540279" y="967417"/>
            <a:ext cx="3778870" cy="3943250"/>
          </a:xfrm>
          <a:prstGeom prst="rect">
            <a:avLst/>
          </a:prstGeom>
        </p:spPr>
        <p:txBody>
          <a:bodyPr vert="horz" lIns="91440" tIns="45720" rIns="91440" bIns="45720" rtlCol="0" anchor="b">
            <a:normAutofit/>
          </a:bodyPr>
          <a:lstStyle/>
          <a:p>
            <a:pPr>
              <a:spcBef>
                <a:spcPct val="0"/>
              </a:spcBef>
              <a:spcAft>
                <a:spcPts val="600"/>
              </a:spcAft>
            </a:pPr>
            <a:r>
              <a:rPr lang="en-US" sz="4000" b="1" i="1" dirty="0">
                <a:solidFill>
                  <a:srgbClr val="FEFFFF"/>
                </a:solidFill>
                <a:latin typeface="+mj-lt"/>
                <a:ea typeface="+mj-ea"/>
                <a:cs typeface="+mj-cs"/>
              </a:rPr>
              <a:t>Surface Brushing</a:t>
            </a:r>
          </a:p>
        </p:txBody>
      </p:sp>
      <p:pic>
        <p:nvPicPr>
          <p:cNvPr id="9" name="Picture 8">
            <a:extLst>
              <a:ext uri="{FF2B5EF4-FFF2-40B4-BE49-F238E27FC236}">
                <a16:creationId xmlns:a16="http://schemas.microsoft.com/office/drawing/2014/main" id="{3A214F0C-7420-6C4B-D817-4FF0AE91DF24}"/>
              </a:ext>
            </a:extLst>
          </p:cNvPr>
          <p:cNvPicPr>
            <a:picLocks noChangeAspect="1"/>
          </p:cNvPicPr>
          <p:nvPr/>
        </p:nvPicPr>
        <p:blipFill>
          <a:blip r:embed="rId2"/>
          <a:stretch>
            <a:fillRect/>
          </a:stretch>
        </p:blipFill>
        <p:spPr>
          <a:xfrm>
            <a:off x="5751720" y="2538984"/>
            <a:ext cx="2574662" cy="1782953"/>
          </a:xfrm>
          <a:prstGeom prst="rect">
            <a:avLst/>
          </a:prstGeom>
        </p:spPr>
      </p:pic>
      <p:pic>
        <p:nvPicPr>
          <p:cNvPr id="5" name="Picture 4">
            <a:extLst>
              <a:ext uri="{FF2B5EF4-FFF2-40B4-BE49-F238E27FC236}">
                <a16:creationId xmlns:a16="http://schemas.microsoft.com/office/drawing/2014/main" id="{A42B3F6A-C770-36CF-37F0-804EBB915E48}"/>
              </a:ext>
            </a:extLst>
          </p:cNvPr>
          <p:cNvPicPr>
            <a:picLocks noChangeAspect="1"/>
          </p:cNvPicPr>
          <p:nvPr/>
        </p:nvPicPr>
        <p:blipFill>
          <a:blip r:embed="rId3"/>
          <a:stretch>
            <a:fillRect/>
          </a:stretch>
        </p:blipFill>
        <p:spPr>
          <a:xfrm>
            <a:off x="8490108" y="2140313"/>
            <a:ext cx="2574662" cy="2581115"/>
          </a:xfrm>
          <a:prstGeom prst="rect">
            <a:avLst/>
          </a:prstGeom>
        </p:spPr>
      </p:pic>
    </p:spTree>
    <p:extLst>
      <p:ext uri="{BB962C8B-B14F-4D97-AF65-F5344CB8AC3E}">
        <p14:creationId xmlns:p14="http://schemas.microsoft.com/office/powerpoint/2010/main" val="3146938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E4A6771-077C-4C4E-B176-16FF74AD33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89B2E0B-95B2-BE02-252B-7866B6E91ADA}"/>
              </a:ext>
            </a:extLst>
          </p:cNvPr>
          <p:cNvSpPr txBox="1"/>
          <p:nvPr/>
        </p:nvSpPr>
        <p:spPr>
          <a:xfrm>
            <a:off x="540279" y="967417"/>
            <a:ext cx="3778870" cy="3943250"/>
          </a:xfrm>
          <a:prstGeom prst="rect">
            <a:avLst/>
          </a:prstGeom>
        </p:spPr>
        <p:txBody>
          <a:bodyPr vert="horz" lIns="91440" tIns="45720" rIns="91440" bIns="45720" rtlCol="0" anchor="b">
            <a:normAutofit/>
          </a:bodyPr>
          <a:lstStyle/>
          <a:p>
            <a:pPr>
              <a:spcBef>
                <a:spcPct val="0"/>
              </a:spcBef>
              <a:spcAft>
                <a:spcPts val="600"/>
              </a:spcAft>
            </a:pPr>
            <a:r>
              <a:rPr lang="en-US" sz="4000" b="1" i="1" dirty="0">
                <a:solidFill>
                  <a:srgbClr val="FEFFFF"/>
                </a:solidFill>
                <a:latin typeface="+mj-lt"/>
                <a:ea typeface="+mj-ea"/>
                <a:cs typeface="+mj-cs"/>
              </a:rPr>
              <a:t>Salvage Operation</a:t>
            </a:r>
          </a:p>
        </p:txBody>
      </p:sp>
      <p:pic>
        <p:nvPicPr>
          <p:cNvPr id="6" name="Picture 5">
            <a:extLst>
              <a:ext uri="{FF2B5EF4-FFF2-40B4-BE49-F238E27FC236}">
                <a16:creationId xmlns:a16="http://schemas.microsoft.com/office/drawing/2014/main" id="{9D76BCAB-223B-443A-057C-A6E0E0E5E5CF}"/>
              </a:ext>
            </a:extLst>
          </p:cNvPr>
          <p:cNvPicPr>
            <a:picLocks noChangeAspect="1"/>
          </p:cNvPicPr>
          <p:nvPr/>
        </p:nvPicPr>
        <p:blipFill>
          <a:blip r:embed="rId2"/>
          <a:stretch>
            <a:fillRect/>
          </a:stretch>
        </p:blipFill>
        <p:spPr>
          <a:xfrm>
            <a:off x="5751719" y="1685925"/>
            <a:ext cx="2694435" cy="3000375"/>
          </a:xfrm>
          <a:prstGeom prst="rect">
            <a:avLst/>
          </a:prstGeom>
        </p:spPr>
      </p:pic>
      <p:pic>
        <p:nvPicPr>
          <p:cNvPr id="7" name="Picture 6">
            <a:extLst>
              <a:ext uri="{FF2B5EF4-FFF2-40B4-BE49-F238E27FC236}">
                <a16:creationId xmlns:a16="http://schemas.microsoft.com/office/drawing/2014/main" id="{47BA809E-AA29-6AEC-816B-3443FC7F82A0}"/>
              </a:ext>
            </a:extLst>
          </p:cNvPr>
          <p:cNvPicPr>
            <a:picLocks noChangeAspect="1"/>
          </p:cNvPicPr>
          <p:nvPr/>
        </p:nvPicPr>
        <p:blipFill>
          <a:blip r:embed="rId3"/>
          <a:stretch>
            <a:fillRect/>
          </a:stretch>
        </p:blipFill>
        <p:spPr>
          <a:xfrm>
            <a:off x="8490108" y="1816662"/>
            <a:ext cx="2574662" cy="3228416"/>
          </a:xfrm>
          <a:prstGeom prst="rect">
            <a:avLst/>
          </a:prstGeom>
        </p:spPr>
      </p:pic>
    </p:spTree>
    <p:extLst>
      <p:ext uri="{BB962C8B-B14F-4D97-AF65-F5344CB8AC3E}">
        <p14:creationId xmlns:p14="http://schemas.microsoft.com/office/powerpoint/2010/main" val="262618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142C57D5-346F-6B17-0157-3F1034F637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0B49B7-7232-5387-E0A5-ABB013B5D591}"/>
              </a:ext>
            </a:extLst>
          </p:cNvPr>
          <p:cNvSpPr txBox="1"/>
          <p:nvPr/>
        </p:nvSpPr>
        <p:spPr>
          <a:xfrm>
            <a:off x="540279" y="967417"/>
            <a:ext cx="3778870" cy="3943250"/>
          </a:xfrm>
          <a:prstGeom prst="rect">
            <a:avLst/>
          </a:prstGeom>
        </p:spPr>
        <p:txBody>
          <a:bodyPr vert="horz" lIns="91440" tIns="45720" rIns="91440" bIns="45720" rtlCol="0" anchor="b">
            <a:normAutofit/>
          </a:bodyPr>
          <a:lstStyle/>
          <a:p>
            <a:pPr>
              <a:spcBef>
                <a:spcPct val="0"/>
              </a:spcBef>
              <a:spcAft>
                <a:spcPts val="600"/>
              </a:spcAft>
            </a:pPr>
            <a:r>
              <a:rPr lang="en-US" sz="4000" b="1" i="1" dirty="0">
                <a:solidFill>
                  <a:srgbClr val="FEFFFF"/>
                </a:solidFill>
                <a:latin typeface="+mj-lt"/>
                <a:ea typeface="+mj-ea"/>
                <a:cs typeface="+mj-cs"/>
              </a:rPr>
              <a:t>Map Reveal</a:t>
            </a:r>
          </a:p>
        </p:txBody>
      </p:sp>
      <p:pic>
        <p:nvPicPr>
          <p:cNvPr id="8" name="Picture 7">
            <a:extLst>
              <a:ext uri="{FF2B5EF4-FFF2-40B4-BE49-F238E27FC236}">
                <a16:creationId xmlns:a16="http://schemas.microsoft.com/office/drawing/2014/main" id="{7CE405D6-454A-6897-9F7B-FF675AD84E07}"/>
              </a:ext>
            </a:extLst>
          </p:cNvPr>
          <p:cNvPicPr>
            <a:picLocks noChangeAspect="1"/>
          </p:cNvPicPr>
          <p:nvPr/>
        </p:nvPicPr>
        <p:blipFill>
          <a:blip r:embed="rId2"/>
          <a:stretch>
            <a:fillRect/>
          </a:stretch>
        </p:blipFill>
        <p:spPr>
          <a:xfrm>
            <a:off x="5751720" y="2471399"/>
            <a:ext cx="2574662" cy="1918122"/>
          </a:xfrm>
          <a:prstGeom prst="rect">
            <a:avLst/>
          </a:prstGeom>
        </p:spPr>
      </p:pic>
      <p:pic>
        <p:nvPicPr>
          <p:cNvPr id="4" name="Picture 3">
            <a:extLst>
              <a:ext uri="{FF2B5EF4-FFF2-40B4-BE49-F238E27FC236}">
                <a16:creationId xmlns:a16="http://schemas.microsoft.com/office/drawing/2014/main" id="{0DD0511C-2EE6-47D2-C221-E130C189B540}"/>
              </a:ext>
            </a:extLst>
          </p:cNvPr>
          <p:cNvPicPr>
            <a:picLocks noChangeAspect="1"/>
          </p:cNvPicPr>
          <p:nvPr/>
        </p:nvPicPr>
        <p:blipFill>
          <a:blip r:embed="rId3"/>
          <a:stretch>
            <a:fillRect/>
          </a:stretch>
        </p:blipFill>
        <p:spPr>
          <a:xfrm>
            <a:off x="8490108" y="2439626"/>
            <a:ext cx="2574662" cy="1982489"/>
          </a:xfrm>
          <a:prstGeom prst="rect">
            <a:avLst/>
          </a:prstGeom>
        </p:spPr>
      </p:pic>
    </p:spTree>
    <p:extLst>
      <p:ext uri="{BB962C8B-B14F-4D97-AF65-F5344CB8AC3E}">
        <p14:creationId xmlns:p14="http://schemas.microsoft.com/office/powerpoint/2010/main" val="340386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7C78542-2765-FBDB-1D92-8EFBBC0C919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954EF2-07FA-8964-265B-221838CDB9F6}"/>
              </a:ext>
            </a:extLst>
          </p:cNvPr>
          <p:cNvSpPr txBox="1"/>
          <p:nvPr/>
        </p:nvSpPr>
        <p:spPr>
          <a:xfrm>
            <a:off x="540279" y="967417"/>
            <a:ext cx="3778870" cy="3943250"/>
          </a:xfrm>
          <a:prstGeom prst="rect">
            <a:avLst/>
          </a:prstGeom>
        </p:spPr>
        <p:txBody>
          <a:bodyPr vert="horz" lIns="91440" tIns="45720" rIns="91440" bIns="45720" rtlCol="0" anchor="b">
            <a:normAutofit/>
          </a:bodyPr>
          <a:lstStyle/>
          <a:p>
            <a:pPr>
              <a:spcBef>
                <a:spcPct val="0"/>
              </a:spcBef>
              <a:spcAft>
                <a:spcPts val="600"/>
              </a:spcAft>
            </a:pPr>
            <a:r>
              <a:rPr lang="en-US" sz="4000" b="1" i="1" dirty="0">
                <a:solidFill>
                  <a:srgbClr val="FEFFFF"/>
                </a:solidFill>
                <a:latin typeface="+mj-lt"/>
                <a:ea typeface="+mj-ea"/>
                <a:cs typeface="+mj-cs"/>
              </a:rPr>
              <a:t>Careful Recovery</a:t>
            </a:r>
          </a:p>
        </p:txBody>
      </p:sp>
      <p:pic>
        <p:nvPicPr>
          <p:cNvPr id="5" name="Picture 4">
            <a:extLst>
              <a:ext uri="{FF2B5EF4-FFF2-40B4-BE49-F238E27FC236}">
                <a16:creationId xmlns:a16="http://schemas.microsoft.com/office/drawing/2014/main" id="{5EB49002-9D78-720C-63F1-21C2465143CE}"/>
              </a:ext>
            </a:extLst>
          </p:cNvPr>
          <p:cNvPicPr>
            <a:picLocks noChangeAspect="1"/>
          </p:cNvPicPr>
          <p:nvPr/>
        </p:nvPicPr>
        <p:blipFill>
          <a:blip r:embed="rId2"/>
          <a:stretch>
            <a:fillRect/>
          </a:stretch>
        </p:blipFill>
        <p:spPr>
          <a:xfrm>
            <a:off x="5751720" y="2371631"/>
            <a:ext cx="2574662" cy="2117659"/>
          </a:xfrm>
          <a:prstGeom prst="rect">
            <a:avLst/>
          </a:prstGeom>
        </p:spPr>
      </p:pic>
      <p:pic>
        <p:nvPicPr>
          <p:cNvPr id="3" name="Picture 2">
            <a:extLst>
              <a:ext uri="{FF2B5EF4-FFF2-40B4-BE49-F238E27FC236}">
                <a16:creationId xmlns:a16="http://schemas.microsoft.com/office/drawing/2014/main" id="{C3132EDD-0428-F17E-7107-D0E36CC89F0A}"/>
              </a:ext>
            </a:extLst>
          </p:cNvPr>
          <p:cNvPicPr>
            <a:picLocks noChangeAspect="1"/>
          </p:cNvPicPr>
          <p:nvPr/>
        </p:nvPicPr>
        <p:blipFill>
          <a:blip r:embed="rId3"/>
          <a:stretch>
            <a:fillRect/>
          </a:stretch>
        </p:blipFill>
        <p:spPr>
          <a:xfrm>
            <a:off x="8490108" y="2314111"/>
            <a:ext cx="2574662" cy="2233518"/>
          </a:xfrm>
          <a:prstGeom prst="rect">
            <a:avLst/>
          </a:prstGeom>
        </p:spPr>
      </p:pic>
    </p:spTree>
    <p:extLst>
      <p:ext uri="{BB962C8B-B14F-4D97-AF65-F5344CB8AC3E}">
        <p14:creationId xmlns:p14="http://schemas.microsoft.com/office/powerpoint/2010/main" val="3341423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71E7062D-453E-EB80-4EB4-3C5872FDF2AB}"/>
              </a:ext>
            </a:extLst>
          </p:cNvPr>
          <p:cNvPicPr>
            <a:picLocks noChangeAspect="1"/>
          </p:cNvPicPr>
          <p:nvPr/>
        </p:nvPicPr>
        <p:blipFill>
          <a:blip r:embed="rId2"/>
          <a:stretch>
            <a:fillRect/>
          </a:stretch>
        </p:blipFill>
        <p:spPr>
          <a:xfrm>
            <a:off x="4652761" y="3586053"/>
            <a:ext cx="2886478" cy="1390844"/>
          </a:xfrm>
          <a:prstGeom prst="rect">
            <a:avLst/>
          </a:prstGeom>
        </p:spPr>
      </p:pic>
      <p:pic>
        <p:nvPicPr>
          <p:cNvPr id="39" name="Picture 38">
            <a:extLst>
              <a:ext uri="{FF2B5EF4-FFF2-40B4-BE49-F238E27FC236}">
                <a16:creationId xmlns:a16="http://schemas.microsoft.com/office/drawing/2014/main" id="{C9037E1F-54E4-AB68-F6C5-A233812D8E14}"/>
              </a:ext>
            </a:extLst>
          </p:cNvPr>
          <p:cNvPicPr>
            <a:picLocks noChangeAspect="1"/>
          </p:cNvPicPr>
          <p:nvPr/>
        </p:nvPicPr>
        <p:blipFill>
          <a:blip r:embed="rId3"/>
          <a:stretch>
            <a:fillRect/>
          </a:stretch>
        </p:blipFill>
        <p:spPr>
          <a:xfrm>
            <a:off x="2799919" y="271366"/>
            <a:ext cx="7763306" cy="1843184"/>
          </a:xfrm>
          <a:prstGeom prst="rect">
            <a:avLst/>
          </a:prstGeom>
        </p:spPr>
      </p:pic>
    </p:spTree>
    <p:extLst>
      <p:ext uri="{BB962C8B-B14F-4D97-AF65-F5344CB8AC3E}">
        <p14:creationId xmlns:p14="http://schemas.microsoft.com/office/powerpoint/2010/main" val="376285706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1962</TotalTime>
  <Words>275</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Century Gothic</vt:lpstr>
      <vt:lpstr>Times New Roman</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Tyler Technologies,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Kolavennu, Ravi</dc:creator>
  <cp:lastModifiedBy>Kolavennu, Ravi</cp:lastModifiedBy>
  <cp:revision>17</cp:revision>
  <cp:lastPrinted>2025-12-01T03:09:12Z</cp:lastPrinted>
  <dcterms:created xsi:type="dcterms:W3CDTF">2025-11-29T19:38:57Z</dcterms:created>
  <dcterms:modified xsi:type="dcterms:W3CDTF">2025-12-27T21:21:56Z</dcterms:modified>
</cp:coreProperties>
</file>